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MonadChat: stream chat where every message is a transaction — you pay to speak, the streamer is paid the same second. The interesting part: try to build this on Ethereum or an L2 and it dies — physics kills it or economics kills it. This pitch is the proof, with numbers we measured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Sixty seconds of context. It is a stream chat that is an account book: price per word, the amount on every line. The streamer is paid inside the same transaction. We are a chat layer on top of Twitch or YouTube, not a platform. Now — why this is a Monad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killer: latency. A chat message has to land before the reply is typed. On Ethereum a transaction is a letter — the conversation is over before it arrives. On fast L2s it is a walkie-talkie: possible, never natural. At 400 milliseconds the transaction finally IS the message. We measured 0.5 to 1.3 seconds send-to-chain and print it on every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killer: bots. Paid chat still dies to spam unless someone rate-limits, and everywhere else that someone is your moderation server. Here the consensus does it: one spending transaction per wallet per 1.2 seconds — we fired five at once, one landed, four reverted and still paid gas. Zero moderation code, and spam burns the spammer’s own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killer: gas eats the word. Our receipt: the word is 0.05, the rail is 0.013 — a fifth of the word. Run the same receipt on Ethereum and the gas line alone is dollars — the word must cost ten to stay sane, which is Superchat with extra steps. On L2s fees spike exactly when the chat gets busy. Here they stay flat, and we ship 7.5% gas estimates because the chain charges the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Fourth killer: a chat where every message is a transaction looks like a DDoS to most chains — thousands of transactions a minute from one stream. Here that is normal load. And because the chain is this fast, it IS our backend: no server, no database, no indexer — 67 verified lines of contract, getLogs for history, a WebSocket for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chain is fast enough to talk on. Scan the link, write a word from your phone, and watch it land on Monad in half a second.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FE6"/>
        </a:solidFill>
      </p:bgPr>
    </p:bg>
    <p:spTree>
      <p:nvGrpSpPr>
        <p:cNvPr id="1" name=""/>
        <p:cNvGrpSpPr/>
        <p:nvPr/>
      </p:nvGrpSpPr>
      <p:grpSpPr>
        <a:xfrm>
          <a:off x="0" y="0"/>
          <a:ext cx="0" cy="0"/>
          <a:chOff x="0" y="0"/>
          <a:chExt cx="0" cy="0"/>
        </a:xfrm>
      </p:grpSpPr>
      <p:sp>
        <p:nvSpPr>
          <p:cNvPr id="2" name="Shape 0"/>
          <p:cNvSpPr/>
          <p:nvPr/>
        </p:nvSpPr>
        <p:spPr>
          <a:xfrm>
            <a:off x="566928" y="673913"/>
            <a:ext cx="261518" cy="261518"/>
          </a:xfrm>
          <a:prstGeom prst="rect">
            <a:avLst/>
          </a:prstGeom>
          <a:solidFill>
            <a:srgbClr val="BF3A1E"/>
          </a:solidFill>
          <a:ln/>
        </p:spPr>
      </p:sp>
      <p:sp>
        <p:nvSpPr>
          <p:cNvPr id="3" name="Text 1"/>
          <p:cNvSpPr txBox="1"/>
          <p:nvPr/>
        </p:nvSpPr>
        <p:spPr>
          <a:xfrm>
            <a:off x="938174" y="376733"/>
            <a:ext cx="3657600" cy="570586"/>
          </a:xfrm>
          <a:prstGeom prst="rect">
            <a:avLst/>
          </a:prstGeom>
          <a:noFill/>
          <a:ln/>
        </p:spPr>
        <p:txBody>
          <a:bodyPr wrap="square" lIns="0" tIns="0" rIns="0" bIns="0" rtlCol="0" anchor="ctr"/>
          <a:lstStyle/>
          <a:p>
            <a:pPr indent="0" marL="0">
              <a:buNone/>
            </a:pPr>
            <a:r>
              <a:rPr lang="en-US" sz="2600" dirty="0">
                <a:solidFill>
                  <a:srgbClr val="1A1712"/>
                </a:solidFill>
                <a:latin typeface="Alsina" pitchFamily="34" charset="0"/>
                <a:ea typeface="Alsina" pitchFamily="34" charset="-122"/>
                <a:cs typeface="Alsina" pitchFamily="34" charset="-120"/>
              </a:rPr>
              <a:t>MonadChat</a:t>
            </a:r>
            <a:endParaRPr lang="en-US" sz="2600" dirty="0"/>
          </a:p>
        </p:txBody>
      </p:sp>
      <p:sp>
        <p:nvSpPr>
          <p:cNvPr id="4" name="Text 2"/>
          <p:cNvSpPr txBox="1"/>
          <p:nvPr/>
        </p:nvSpPr>
        <p:spPr>
          <a:xfrm>
            <a:off x="502920" y="1325880"/>
            <a:ext cx="11155680" cy="2743200"/>
          </a:xfrm>
          <a:prstGeom prst="rect">
            <a:avLst/>
          </a:prstGeom>
          <a:noFill/>
          <a:ln/>
        </p:spPr>
        <p:txBody>
          <a:bodyPr wrap="square" lIns="0" tIns="0" rIns="0" bIns="0" rtlCol="0" anchor="ctr"/>
          <a:lstStyle/>
          <a:p>
            <a:pPr indent="0" marL="0">
              <a:lnSpc>
                <a:spcPts val="8000"/>
              </a:lnSpc>
              <a:buNone/>
            </a:pPr>
            <a:r>
              <a:rPr lang="en-US" sz="8400" dirty="0">
                <a:solidFill>
                  <a:srgbClr val="1A1712"/>
                </a:solidFill>
                <a:latin typeface="Alsina" pitchFamily="34" charset="0"/>
                <a:ea typeface="Alsina" pitchFamily="34" charset="-122"/>
                <a:cs typeface="Alsina" pitchFamily="34" charset="-120"/>
              </a:rPr>
              <a:t>Chat where
</a:t>
            </a:r>
            <a:pPr indent="0" marL="0">
              <a:lnSpc>
                <a:spcPts val="8000"/>
              </a:lnSpc>
              <a:buNone/>
            </a:pPr>
            <a:r>
              <a:rPr lang="en-US" sz="8400" dirty="0">
                <a:solidFill>
                  <a:srgbClr val="1A1712"/>
                </a:solidFill>
                <a:latin typeface="Alsina" pitchFamily="34" charset="0"/>
                <a:ea typeface="Alsina" pitchFamily="34" charset="-122"/>
                <a:cs typeface="Alsina" pitchFamily="34" charset="-120"/>
              </a:rPr>
              <a:t>words cost </a:t>
            </a:r>
            <a:pPr indent="0" marL="0">
              <a:lnSpc>
                <a:spcPts val="8000"/>
              </a:lnSpc>
              <a:buNone/>
            </a:pPr>
            <a:r>
              <a:rPr lang="en-US" sz="8400" dirty="0">
                <a:solidFill>
                  <a:srgbClr val="BF3A1E"/>
                </a:solidFill>
                <a:latin typeface="Alsina" pitchFamily="34" charset="0"/>
                <a:ea typeface="Alsina" pitchFamily="34" charset="-122"/>
                <a:cs typeface="Alsina" pitchFamily="34" charset="-120"/>
              </a:rPr>
              <a:t>money</a:t>
            </a:r>
            <a:endParaRPr lang="en-US" sz="8400" dirty="0"/>
          </a:p>
        </p:txBody>
      </p:sp>
      <p:sp>
        <p:nvSpPr>
          <p:cNvPr id="5" name="Text 3"/>
          <p:cNvSpPr txBox="1"/>
          <p:nvPr/>
        </p:nvSpPr>
        <p:spPr>
          <a:xfrm>
            <a:off x="548640" y="4114800"/>
            <a:ext cx="9601200" cy="457200"/>
          </a:xfrm>
          <a:prstGeom prst="rect">
            <a:avLst/>
          </a:prstGeom>
          <a:noFill/>
          <a:ln/>
        </p:spPr>
        <p:txBody>
          <a:bodyPr wrap="square" lIns="0" tIns="0" rIns="0" bIns="0" rtlCol="0" anchor="ctr"/>
          <a:lstStyle/>
          <a:p>
            <a:pPr indent="0" marL="0">
              <a:buNone/>
            </a:pPr>
            <a:r>
              <a:rPr lang="en-US" sz="1900" dirty="0">
                <a:solidFill>
                  <a:srgbClr val="1A1712"/>
                </a:solidFill>
                <a:latin typeface="Georgia" pitchFamily="34" charset="0"/>
                <a:ea typeface="Georgia" pitchFamily="34" charset="-122"/>
                <a:cs typeface="Georgia" pitchFamily="34" charset="-120"/>
              </a:rPr>
              <a:t>Every message is a Monad transaction. The streamer is paid the same second.</a:t>
            </a:r>
            <a:endParaRPr lang="en-US" sz="1900" dirty="0"/>
          </a:p>
        </p:txBody>
      </p:sp>
      <p:sp>
        <p:nvSpPr>
          <p:cNvPr id="6" name="Text 4"/>
          <p:cNvSpPr txBox="1"/>
          <p:nvPr/>
        </p:nvSpPr>
        <p:spPr>
          <a:xfrm>
            <a:off x="548640" y="4617720"/>
            <a:ext cx="9601200" cy="457200"/>
          </a:xfrm>
          <a:prstGeom prst="rect">
            <a:avLst/>
          </a:prstGeom>
          <a:noFill/>
          <a:ln/>
        </p:spPr>
        <p:txBody>
          <a:bodyPr wrap="square" lIns="0" tIns="0" rIns="0" bIns="0" rtlCol="0" anchor="ctr"/>
          <a:lstStyle/>
          <a:p>
            <a:pPr indent="0" marL="0">
              <a:buNone/>
            </a:pPr>
            <a:r>
              <a:rPr lang="en-US" sz="1700" i="1" dirty="0">
                <a:solidFill>
                  <a:srgbClr val="71685A"/>
                </a:solidFill>
                <a:latin typeface="Georgia" pitchFamily="34" charset="0"/>
                <a:ea typeface="Georgia" pitchFamily="34" charset="-122"/>
                <a:cs typeface="Georgia" pitchFamily="34" charset="-120"/>
              </a:rPr>
              <a:t>Everywhere else, physics or economics kills this product. We can prove it.</a:t>
            </a:r>
            <a:endParaRPr lang="en-US" sz="1700" dirty="0"/>
          </a:p>
        </p:txBody>
      </p:sp>
      <p:sp>
        <p:nvSpPr>
          <p:cNvPr id="7" name="Shape 5"/>
          <p:cNvSpPr/>
          <p:nvPr/>
        </p:nvSpPr>
        <p:spPr>
          <a:xfrm>
            <a:off x="548640" y="5806440"/>
            <a:ext cx="11091672" cy="0"/>
          </a:xfrm>
          <a:prstGeom prst="line">
            <a:avLst/>
          </a:prstGeom>
          <a:noFill/>
          <a:ln w="17780">
            <a:solidFill>
              <a:srgbClr val="1A1712"/>
            </a:solidFill>
            <a:prstDash val="solid"/>
          </a:ln>
        </p:spPr>
      </p:sp>
      <p:sp>
        <p:nvSpPr>
          <p:cNvPr id="8" name="Text 6"/>
          <p:cNvSpPr txBox="1"/>
          <p:nvPr/>
        </p:nvSpPr>
        <p:spPr>
          <a:xfrm>
            <a:off x="548640" y="5943600"/>
            <a:ext cx="5486400" cy="365760"/>
          </a:xfrm>
          <a:prstGeom prst="rect">
            <a:avLst/>
          </a:prstGeom>
          <a:noFill/>
          <a:ln/>
        </p:spPr>
        <p:txBody>
          <a:bodyPr wrap="square" lIns="0" tIns="0" rIns="0" bIns="0" rtlCol="0" anchor="ctr"/>
          <a:lstStyle/>
          <a:p>
            <a:pPr indent="0" marL="0">
              <a:buNone/>
            </a:pPr>
            <a:r>
              <a:rPr lang="en-US" sz="1300" spc="300" kern="0" dirty="0">
                <a:solidFill>
                  <a:srgbClr val="71685A"/>
                </a:solidFill>
                <a:latin typeface="Courier New" pitchFamily="34" charset="0"/>
                <a:ea typeface="Courier New" pitchFamily="34" charset="-122"/>
                <a:cs typeface="Courier New" pitchFamily="34" charset="-120"/>
              </a:rPr>
              <a:t>MONAD BLITZ · AMSTERDAM · 2026</a:t>
            </a:r>
            <a:endParaRPr lang="en-US" sz="1300" dirty="0"/>
          </a:p>
        </p:txBody>
      </p:sp>
      <p:sp>
        <p:nvSpPr>
          <p:cNvPr id="9" name="Text 7"/>
          <p:cNvSpPr txBox="1"/>
          <p:nvPr/>
        </p:nvSpPr>
        <p:spPr>
          <a:xfrm>
            <a:off x="6583680" y="5943600"/>
            <a:ext cx="5029200" cy="365760"/>
          </a:xfrm>
          <a:prstGeom prst="rect">
            <a:avLst/>
          </a:prstGeom>
          <a:noFill/>
          <a:ln/>
        </p:spPr>
        <p:txBody>
          <a:bodyPr wrap="square" lIns="0" tIns="0" rIns="0" bIns="0" rtlCol="0" anchor="ctr"/>
          <a:lstStyle/>
          <a:p>
            <a:pPr algn="r" indent="0" marL="0">
              <a:buNone/>
            </a:pPr>
            <a:r>
              <a:rPr lang="en-US" sz="1500" b="1" dirty="0">
                <a:solidFill>
                  <a:srgbClr val="BF3A1E"/>
                </a:solidFill>
                <a:latin typeface="Courier New" pitchFamily="34" charset="0"/>
                <a:ea typeface="Courier New" pitchFamily="34" charset="-122"/>
                <a:cs typeface="Courier New" pitchFamily="34" charset="-120"/>
              </a:rPr>
              <a:t>monadchat-rvfc1.vercel.app</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48640" y="384048"/>
            <a:ext cx="9601200" cy="457200"/>
          </a:xfrm>
          <a:prstGeom prst="rect">
            <a:avLst/>
          </a:prstGeom>
          <a:noFill/>
          <a:ln/>
        </p:spPr>
        <p:txBody>
          <a:bodyPr wrap="square" lIns="0" tIns="0" rIns="0" bIns="0" rtlCol="0" anchor="ctr"/>
          <a:lstStyle/>
          <a:p>
            <a:pPr indent="0" marL="0">
              <a:buNone/>
            </a:pPr>
            <a:r>
              <a:rPr lang="en-US" sz="1500" b="1" spc="400" kern="0" dirty="0">
                <a:solidFill>
                  <a:srgbClr val="1A1712"/>
                </a:solidFill>
                <a:latin typeface="Courier New" pitchFamily="34" charset="0"/>
                <a:ea typeface="Courier New" pitchFamily="34" charset="-122"/>
                <a:cs typeface="Courier New" pitchFamily="34" charset="-120"/>
              </a:rPr>
              <a:t>THE PRODUCT, IN ONE LOOK</a:t>
            </a:r>
            <a:endParaRPr lang="en-US" sz="1500" dirty="0"/>
          </a:p>
        </p:txBody>
      </p:sp>
      <p:sp>
        <p:nvSpPr>
          <p:cNvPr id="3" name="Shape 1"/>
          <p:cNvSpPr/>
          <p:nvPr/>
        </p:nvSpPr>
        <p:spPr>
          <a:xfrm>
            <a:off x="4617720" y="630936"/>
            <a:ext cx="6519672" cy="0"/>
          </a:xfrm>
          <a:prstGeom prst="line">
            <a:avLst/>
          </a:prstGeom>
          <a:noFill/>
          <a:ln w="12700">
            <a:solidFill>
              <a:srgbClr val="71685A"/>
            </a:solidFill>
            <a:prstDash val="sysDot"/>
          </a:ln>
        </p:spPr>
      </p:sp>
      <p:sp>
        <p:nvSpPr>
          <p:cNvPr id="4" name="Text 2"/>
          <p:cNvSpPr txBox="1"/>
          <p:nvPr/>
        </p:nvSpPr>
        <p:spPr>
          <a:xfrm>
            <a:off x="11137392" y="384048"/>
            <a:ext cx="502920" cy="457200"/>
          </a:xfrm>
          <a:prstGeom prst="rect">
            <a:avLst/>
          </a:prstGeom>
          <a:noFill/>
          <a:ln/>
        </p:spPr>
        <p:txBody>
          <a:bodyPr wrap="square" lIns="0" tIns="0" rIns="0" bIns="0" rtlCol="0" anchor="ctr"/>
          <a:lstStyle/>
          <a:p>
            <a:pPr algn="r" indent="0" marL="0">
              <a:buNone/>
            </a:pPr>
            <a:r>
              <a:rPr lang="en-US" sz="1500" dirty="0">
                <a:solidFill>
                  <a:srgbClr val="71685A"/>
                </a:solidFill>
                <a:latin typeface="Courier New" pitchFamily="34" charset="0"/>
                <a:ea typeface="Courier New" pitchFamily="34" charset="-122"/>
                <a:cs typeface="Courier New" pitchFamily="34" charset="-120"/>
              </a:rPr>
              <a:t>02</a:t>
            </a:r>
            <a:endParaRPr lang="en-US" sz="1500" dirty="0"/>
          </a:p>
        </p:txBody>
      </p:sp>
      <p:sp>
        <p:nvSpPr>
          <p:cNvPr id="5" name="Shape 3"/>
          <p:cNvSpPr/>
          <p:nvPr/>
        </p:nvSpPr>
        <p:spPr>
          <a:xfrm>
            <a:off x="548640" y="1325880"/>
            <a:ext cx="6492240" cy="4023360"/>
          </a:xfrm>
          <a:prstGeom prst="rect">
            <a:avLst/>
          </a:prstGeom>
          <a:solidFill>
            <a:srgbClr val="ECE4D3"/>
          </a:solidFill>
          <a:ln w="15240">
            <a:solidFill>
              <a:srgbClr val="1A1712"/>
            </a:solidFill>
            <a:prstDash val="solid"/>
          </a:ln>
        </p:spPr>
      </p:sp>
      <p:sp>
        <p:nvSpPr>
          <p:cNvPr id="6" name="Text 4"/>
          <p:cNvSpPr txBox="1"/>
          <p:nvPr/>
        </p:nvSpPr>
        <p:spPr>
          <a:xfrm>
            <a:off x="868680" y="1536192"/>
            <a:ext cx="1097280" cy="320040"/>
          </a:xfrm>
          <a:prstGeom prst="rect">
            <a:avLst/>
          </a:prstGeom>
          <a:noFill/>
          <a:ln/>
        </p:spPr>
        <p:txBody>
          <a:bodyPr wrap="square" lIns="0" tIns="0" rIns="0" bIns="0" rtlCol="0" anchor="ctr"/>
          <a:lstStyle/>
          <a:p>
            <a:pPr indent="0" marL="0">
              <a:buNone/>
            </a:pPr>
            <a:r>
              <a:rPr lang="en-US" sz="1200" b="1" spc="300" kern="0" dirty="0">
                <a:solidFill>
                  <a:srgbClr val="1A1712"/>
                </a:solidFill>
                <a:latin typeface="Courier New" pitchFamily="34" charset="0"/>
                <a:ea typeface="Courier New" pitchFamily="34" charset="-122"/>
                <a:cs typeface="Courier New" pitchFamily="34" charset="-120"/>
              </a:rPr>
              <a:t>CHAT</a:t>
            </a:r>
            <a:endParaRPr lang="en-US" sz="1200" dirty="0"/>
          </a:p>
        </p:txBody>
      </p:sp>
      <p:sp>
        <p:nvSpPr>
          <p:cNvPr id="7" name="Shape 5"/>
          <p:cNvSpPr/>
          <p:nvPr/>
        </p:nvSpPr>
        <p:spPr>
          <a:xfrm>
            <a:off x="1691640" y="1645920"/>
            <a:ext cx="91440" cy="91440"/>
          </a:xfrm>
          <a:prstGeom prst="ellipse">
            <a:avLst/>
          </a:prstGeom>
          <a:solidFill>
            <a:srgbClr val="1C6B4A"/>
          </a:solidFill>
          <a:ln/>
        </p:spPr>
      </p:sp>
      <p:sp>
        <p:nvSpPr>
          <p:cNvPr id="8" name="Shape 6"/>
          <p:cNvSpPr/>
          <p:nvPr/>
        </p:nvSpPr>
        <p:spPr>
          <a:xfrm>
            <a:off x="548640" y="1975104"/>
            <a:ext cx="6492240" cy="0"/>
          </a:xfrm>
          <a:prstGeom prst="line">
            <a:avLst/>
          </a:prstGeom>
          <a:noFill/>
          <a:ln w="12700">
            <a:solidFill>
              <a:srgbClr val="1A1712"/>
            </a:solidFill>
            <a:prstDash val="solid"/>
          </a:ln>
        </p:spPr>
      </p:sp>
      <p:sp>
        <p:nvSpPr>
          <p:cNvPr id="9" name="Text 7"/>
          <p:cNvSpPr txBox="1"/>
          <p:nvPr/>
        </p:nvSpPr>
        <p:spPr>
          <a:xfrm>
            <a:off x="868680" y="2212848"/>
            <a:ext cx="5852160" cy="411480"/>
          </a:xfrm>
          <a:prstGeom prst="rect">
            <a:avLst/>
          </a:prstGeom>
          <a:noFill/>
          <a:ln/>
        </p:spPr>
        <p:txBody>
          <a:bodyPr wrap="square" lIns="0" tIns="0" rIns="0" bIns="0" rtlCol="0" anchor="ctr"/>
          <a:lstStyle/>
          <a:p>
            <a:pPr indent="0" marL="0">
              <a:buNone/>
            </a:pPr>
            <a:r>
              <a:rPr lang="en-US" sz="1100" dirty="0">
                <a:solidFill>
                  <a:srgbClr val="71685A"/>
                </a:solidFill>
                <a:latin typeface="Courier New" pitchFamily="34" charset="0"/>
                <a:ea typeface="Courier New" pitchFamily="34" charset="-122"/>
                <a:cs typeface="Courier New" pitchFamily="34" charset="-120"/>
              </a:rPr>
              <a:t>15:18  </a:t>
            </a:r>
            <a:pPr indent="0" marL="0">
              <a:buNone/>
            </a:pPr>
            <a:r>
              <a:rPr lang="en-US" sz="1550" b="1" dirty="0">
                <a:solidFill>
                  <a:srgbClr val="BF3A1E"/>
                </a:solidFill>
                <a:latin typeface="Georgia" pitchFamily="34" charset="0"/>
                <a:ea typeface="Georgia" pitchFamily="34" charset="-122"/>
                <a:cs typeface="Georgia" pitchFamily="34" charset="-120"/>
              </a:rPr>
              <a:t>mona</a:t>
            </a:r>
            <a:pPr indent="0" marL="0">
              <a:buNone/>
            </a:pPr>
            <a:r>
              <a:rPr lang="en-US" sz="1550" dirty="0">
                <a:solidFill>
                  <a:srgbClr val="1A1712"/>
                </a:solidFill>
                <a:latin typeface="Georgia" pitchFamily="34" charset="0"/>
                <a:ea typeface="Georgia" pitchFamily="34" charset="-122"/>
                <a:cs typeface="Georgia" pitchFamily="34" charset="-120"/>
              </a:rPr>
              <a:t>  ·  gm Amsterdam — this line cost money</a:t>
            </a:r>
            <a:endParaRPr lang="en-US" sz="1100" dirty="0"/>
          </a:p>
        </p:txBody>
      </p:sp>
      <p:sp>
        <p:nvSpPr>
          <p:cNvPr id="10" name="Shape 8"/>
          <p:cNvSpPr/>
          <p:nvPr/>
        </p:nvSpPr>
        <p:spPr>
          <a:xfrm>
            <a:off x="868680" y="2761488"/>
            <a:ext cx="4389120" cy="0"/>
          </a:xfrm>
          <a:prstGeom prst="line">
            <a:avLst/>
          </a:prstGeom>
          <a:noFill/>
          <a:ln w="12700">
            <a:solidFill>
              <a:srgbClr val="71685A"/>
            </a:solidFill>
            <a:prstDash val="sysDot"/>
          </a:ln>
        </p:spPr>
      </p:sp>
      <p:sp>
        <p:nvSpPr>
          <p:cNvPr id="11" name="Text 9"/>
          <p:cNvSpPr txBox="1"/>
          <p:nvPr/>
        </p:nvSpPr>
        <p:spPr>
          <a:xfrm>
            <a:off x="4892040" y="2560320"/>
            <a:ext cx="1828800" cy="365760"/>
          </a:xfrm>
          <a:prstGeom prst="rect">
            <a:avLst/>
          </a:prstGeom>
          <a:noFill/>
          <a:ln/>
        </p:spPr>
        <p:txBody>
          <a:bodyPr wrap="square" lIns="0" tIns="0" rIns="0" bIns="0" rtlCol="0" anchor="ctr"/>
          <a:lstStyle/>
          <a:p>
            <a:pPr algn="r" indent="0" marL="0">
              <a:buNone/>
            </a:pPr>
            <a:r>
              <a:rPr lang="en-US" sz="1200" b="1" dirty="0">
                <a:solidFill>
                  <a:srgbClr val="1C6B4A"/>
                </a:solidFill>
                <a:latin typeface="Courier New" pitchFamily="34" charset="0"/>
                <a:ea typeface="Courier New" pitchFamily="34" charset="-122"/>
                <a:cs typeface="Courier New" pitchFamily="34" charset="-120"/>
              </a:rPr>
              <a:t>0.05</a:t>
            </a:r>
            <a:endParaRPr lang="en-US" sz="1200" dirty="0"/>
          </a:p>
        </p:txBody>
      </p:sp>
      <p:sp>
        <p:nvSpPr>
          <p:cNvPr id="12" name="Text 10"/>
          <p:cNvSpPr txBox="1"/>
          <p:nvPr/>
        </p:nvSpPr>
        <p:spPr>
          <a:xfrm>
            <a:off x="868680" y="3145536"/>
            <a:ext cx="5852160" cy="411480"/>
          </a:xfrm>
          <a:prstGeom prst="rect">
            <a:avLst/>
          </a:prstGeom>
          <a:noFill/>
          <a:ln/>
        </p:spPr>
        <p:txBody>
          <a:bodyPr wrap="square" lIns="0" tIns="0" rIns="0" bIns="0" rtlCol="0" anchor="ctr"/>
          <a:lstStyle/>
          <a:p>
            <a:pPr indent="0" marL="0">
              <a:buNone/>
            </a:pPr>
            <a:r>
              <a:rPr lang="en-US" sz="1100" dirty="0">
                <a:solidFill>
                  <a:srgbClr val="71685A"/>
                </a:solidFill>
                <a:latin typeface="Courier New" pitchFamily="34" charset="0"/>
                <a:ea typeface="Courier New" pitchFamily="34" charset="-122"/>
                <a:cs typeface="Courier New" pitchFamily="34" charset="-120"/>
              </a:rPr>
              <a:t>15:31  </a:t>
            </a:r>
            <a:pPr indent="0" marL="0">
              <a:buNone/>
            </a:pPr>
            <a:r>
              <a:rPr lang="en-US" sz="1550" b="1" dirty="0">
                <a:solidFill>
                  <a:srgbClr val="1C6B4A"/>
                </a:solidFill>
                <a:latin typeface="Georgia" pitchFamily="34" charset="0"/>
                <a:ea typeface="Georgia" pitchFamily="34" charset="-122"/>
                <a:cs typeface="Georgia" pitchFamily="34" charset="-120"/>
              </a:rPr>
              <a:t>nad_holder</a:t>
            </a:r>
            <a:pPr indent="0" marL="0">
              <a:buNone/>
            </a:pPr>
            <a:r>
              <a:rPr lang="en-US" sz="1550" dirty="0">
                <a:solidFill>
                  <a:srgbClr val="1A1712"/>
                </a:solidFill>
                <a:latin typeface="Georgia" pitchFamily="34" charset="0"/>
                <a:ea typeface="Georgia" pitchFamily="34" charset="-122"/>
                <a:cs typeface="Georgia" pitchFamily="34" charset="-120"/>
              </a:rPr>
              <a:t>  ·  every message here is a transaction</a:t>
            </a:r>
            <a:endParaRPr lang="en-US" sz="1100" dirty="0"/>
          </a:p>
        </p:txBody>
      </p:sp>
      <p:sp>
        <p:nvSpPr>
          <p:cNvPr id="13" name="Shape 11"/>
          <p:cNvSpPr/>
          <p:nvPr/>
        </p:nvSpPr>
        <p:spPr>
          <a:xfrm>
            <a:off x="868680" y="3694176"/>
            <a:ext cx="4389120" cy="0"/>
          </a:xfrm>
          <a:prstGeom prst="line">
            <a:avLst/>
          </a:prstGeom>
          <a:noFill/>
          <a:ln w="12700">
            <a:solidFill>
              <a:srgbClr val="71685A"/>
            </a:solidFill>
            <a:prstDash val="sysDot"/>
          </a:ln>
        </p:spPr>
      </p:sp>
      <p:sp>
        <p:nvSpPr>
          <p:cNvPr id="14" name="Text 12"/>
          <p:cNvSpPr txBox="1"/>
          <p:nvPr/>
        </p:nvSpPr>
        <p:spPr>
          <a:xfrm>
            <a:off x="4892040" y="3493008"/>
            <a:ext cx="1828800" cy="365760"/>
          </a:xfrm>
          <a:prstGeom prst="rect">
            <a:avLst/>
          </a:prstGeom>
          <a:noFill/>
          <a:ln/>
        </p:spPr>
        <p:txBody>
          <a:bodyPr wrap="square" lIns="0" tIns="0" rIns="0" bIns="0" rtlCol="0" anchor="ctr"/>
          <a:lstStyle/>
          <a:p>
            <a:pPr algn="r" indent="0" marL="0">
              <a:buNone/>
            </a:pPr>
            <a:r>
              <a:rPr lang="en-US" sz="1200" b="1" dirty="0">
                <a:solidFill>
                  <a:srgbClr val="1C6B4A"/>
                </a:solidFill>
                <a:latin typeface="Courier New" pitchFamily="34" charset="0"/>
                <a:ea typeface="Courier New" pitchFamily="34" charset="-122"/>
                <a:cs typeface="Courier New" pitchFamily="34" charset="-120"/>
              </a:rPr>
              <a:t>0.05</a:t>
            </a:r>
            <a:endParaRPr lang="en-US" sz="1200" dirty="0"/>
          </a:p>
        </p:txBody>
      </p:sp>
      <p:sp>
        <p:nvSpPr>
          <p:cNvPr id="15" name="Text 13"/>
          <p:cNvSpPr txBox="1"/>
          <p:nvPr/>
        </p:nvSpPr>
        <p:spPr>
          <a:xfrm>
            <a:off x="868680" y="4078224"/>
            <a:ext cx="5852160" cy="411480"/>
          </a:xfrm>
          <a:prstGeom prst="rect">
            <a:avLst/>
          </a:prstGeom>
          <a:noFill/>
          <a:ln/>
        </p:spPr>
        <p:txBody>
          <a:bodyPr wrap="square" lIns="0" tIns="0" rIns="0" bIns="0" rtlCol="0" anchor="ctr"/>
          <a:lstStyle/>
          <a:p>
            <a:pPr indent="0" marL="0">
              <a:buNone/>
            </a:pPr>
            <a:r>
              <a:rPr lang="en-US" sz="1100" dirty="0">
                <a:solidFill>
                  <a:srgbClr val="71685A"/>
                </a:solidFill>
                <a:latin typeface="Courier New" pitchFamily="34" charset="0"/>
                <a:ea typeface="Courier New" pitchFamily="34" charset="-122"/>
                <a:cs typeface="Courier New" pitchFamily="34" charset="-120"/>
              </a:rPr>
              <a:t>15:33  </a:t>
            </a:r>
            <a:pPr indent="0" marL="0">
              <a:buNone/>
            </a:pPr>
            <a:r>
              <a:rPr lang="en-US" sz="1550" b="1" dirty="0">
                <a:solidFill>
                  <a:srgbClr val="1D5A8A"/>
                </a:solidFill>
                <a:latin typeface="Georgia" pitchFamily="34" charset="0"/>
                <a:ea typeface="Georgia" pitchFamily="34" charset="-122"/>
                <a:cs typeface="Georgia" pitchFamily="34" charset="-120"/>
              </a:rPr>
              <a:t>blitz_fan</a:t>
            </a:r>
            <a:pPr indent="0" marL="0">
              <a:buNone/>
            </a:pPr>
            <a:r>
              <a:rPr lang="en-US" sz="1550" dirty="0">
                <a:solidFill>
                  <a:srgbClr val="1A1712"/>
                </a:solidFill>
                <a:latin typeface="Georgia" pitchFamily="34" charset="0"/>
                <a:ea typeface="Georgia" pitchFamily="34" charset="-122"/>
                <a:cs typeface="Georgia" pitchFamily="34" charset="-120"/>
              </a:rPr>
              <a:t>  ·  watch the badge → half a second</a:t>
            </a:r>
            <a:endParaRPr lang="en-US" sz="1100" dirty="0"/>
          </a:p>
        </p:txBody>
      </p:sp>
      <p:sp>
        <p:nvSpPr>
          <p:cNvPr id="16" name="Shape 14"/>
          <p:cNvSpPr/>
          <p:nvPr/>
        </p:nvSpPr>
        <p:spPr>
          <a:xfrm>
            <a:off x="868680" y="4626864"/>
            <a:ext cx="4389120" cy="0"/>
          </a:xfrm>
          <a:prstGeom prst="line">
            <a:avLst/>
          </a:prstGeom>
          <a:noFill/>
          <a:ln w="12700">
            <a:solidFill>
              <a:srgbClr val="71685A"/>
            </a:solidFill>
            <a:prstDash val="sysDot"/>
          </a:ln>
        </p:spPr>
      </p:sp>
      <p:sp>
        <p:nvSpPr>
          <p:cNvPr id="17" name="Text 15"/>
          <p:cNvSpPr txBox="1"/>
          <p:nvPr/>
        </p:nvSpPr>
        <p:spPr>
          <a:xfrm>
            <a:off x="4892040" y="4425696"/>
            <a:ext cx="1828800" cy="365760"/>
          </a:xfrm>
          <a:prstGeom prst="rect">
            <a:avLst/>
          </a:prstGeom>
          <a:noFill/>
          <a:ln/>
        </p:spPr>
        <p:txBody>
          <a:bodyPr wrap="square" lIns="0" tIns="0" rIns="0" bIns="0" rtlCol="0" anchor="ctr"/>
          <a:lstStyle/>
          <a:p>
            <a:pPr algn="r" indent="0" marL="0">
              <a:buNone/>
            </a:pPr>
            <a:r>
              <a:rPr lang="en-US" sz="1200" b="1" dirty="0">
                <a:solidFill>
                  <a:srgbClr val="1C6B4A"/>
                </a:solidFill>
                <a:latin typeface="Courier New" pitchFamily="34" charset="0"/>
                <a:ea typeface="Courier New" pitchFamily="34" charset="-122"/>
                <a:cs typeface="Courier New" pitchFamily="34" charset="-120"/>
              </a:rPr>
              <a:t>0.05 · 0.55s</a:t>
            </a:r>
            <a:endParaRPr lang="en-US" sz="1200" dirty="0"/>
          </a:p>
        </p:txBody>
      </p:sp>
      <p:sp>
        <p:nvSpPr>
          <p:cNvPr id="18" name="Text 16"/>
          <p:cNvSpPr txBox="1"/>
          <p:nvPr/>
        </p:nvSpPr>
        <p:spPr>
          <a:xfrm>
            <a:off x="7452360" y="1417320"/>
            <a:ext cx="502920" cy="548640"/>
          </a:xfrm>
          <a:prstGeom prst="rect">
            <a:avLst/>
          </a:prstGeom>
          <a:noFill/>
          <a:ln/>
        </p:spPr>
        <p:txBody>
          <a:bodyPr wrap="square" lIns="0" tIns="0" rIns="0" bIns="0" rtlCol="0" anchor="ctr"/>
          <a:lstStyle/>
          <a:p>
            <a:pPr indent="0" marL="0">
              <a:buNone/>
            </a:pPr>
            <a:r>
              <a:rPr lang="en-US" sz="3200" dirty="0">
                <a:solidFill>
                  <a:srgbClr val="BF3A1E"/>
                </a:solidFill>
                <a:latin typeface="Alsina" pitchFamily="34" charset="0"/>
                <a:ea typeface="Alsina" pitchFamily="34" charset="-122"/>
                <a:cs typeface="Alsina" pitchFamily="34" charset="-120"/>
              </a:rPr>
              <a:t>1</a:t>
            </a:r>
            <a:endParaRPr lang="en-US" sz="3200" dirty="0"/>
          </a:p>
        </p:txBody>
      </p:sp>
      <p:sp>
        <p:nvSpPr>
          <p:cNvPr id="19" name="Text 17"/>
          <p:cNvSpPr txBox="1"/>
          <p:nvPr/>
        </p:nvSpPr>
        <p:spPr>
          <a:xfrm>
            <a:off x="8001000" y="1435608"/>
            <a:ext cx="3749040" cy="457200"/>
          </a:xfrm>
          <a:prstGeom prst="rect">
            <a:avLst/>
          </a:prstGeom>
          <a:noFill/>
          <a:ln/>
        </p:spPr>
        <p:txBody>
          <a:bodyPr wrap="square" lIns="0" tIns="0" rIns="0" bIns="0" rtlCol="0" anchor="ctr"/>
          <a:lstStyle/>
          <a:p>
            <a:pPr indent="0" marL="0">
              <a:buNone/>
            </a:pPr>
            <a:r>
              <a:rPr lang="en-US" sz="1700" b="1" dirty="0">
                <a:solidFill>
                  <a:srgbClr val="1A1712"/>
                </a:solidFill>
                <a:latin typeface="Georgia" pitchFamily="34" charset="0"/>
                <a:ea typeface="Georgia" pitchFamily="34" charset="-122"/>
                <a:cs typeface="Georgia" pitchFamily="34" charset="-120"/>
              </a:rPr>
              <a:t>Pay per word</a:t>
            </a:r>
            <a:endParaRPr lang="en-US" sz="1700" dirty="0"/>
          </a:p>
        </p:txBody>
      </p:sp>
      <p:sp>
        <p:nvSpPr>
          <p:cNvPr id="20" name="Text 18"/>
          <p:cNvSpPr txBox="1"/>
          <p:nvPr/>
        </p:nvSpPr>
        <p:spPr>
          <a:xfrm>
            <a:off x="8001000" y="1892808"/>
            <a:ext cx="3749040" cy="777240"/>
          </a:xfrm>
          <a:prstGeom prst="rect">
            <a:avLst/>
          </a:prstGeom>
          <a:noFill/>
          <a:ln/>
        </p:spPr>
        <p:txBody>
          <a:bodyPr wrap="square" lIns="0" tIns="0" rIns="0" bIns="0" rtlCol="0" anchor="ctr"/>
          <a:lstStyle/>
          <a:p>
            <a:pPr indent="0" marL="0">
              <a:lnSpc>
                <a:spcPts val="1700"/>
              </a:lnSpc>
              <a:buNone/>
            </a:pPr>
            <a:r>
              <a:rPr lang="en-US" sz="1300" dirty="0">
                <a:solidFill>
                  <a:srgbClr val="71685A"/>
                </a:solidFill>
                <a:latin typeface="Georgia" pitchFamily="34" charset="0"/>
                <a:ea typeface="Georgia" pitchFamily="34" charset="-122"/>
                <a:cs typeface="Georgia" pitchFamily="34" charset="-120"/>
              </a:rPr>
              <a:t>the streamer sets the price; paying is the only way to speak</a:t>
            </a:r>
            <a:endParaRPr lang="en-US" sz="1300" dirty="0"/>
          </a:p>
        </p:txBody>
      </p:sp>
      <p:sp>
        <p:nvSpPr>
          <p:cNvPr id="21" name="Text 19"/>
          <p:cNvSpPr txBox="1"/>
          <p:nvPr/>
        </p:nvSpPr>
        <p:spPr>
          <a:xfrm>
            <a:off x="7452360" y="2788920"/>
            <a:ext cx="502920" cy="548640"/>
          </a:xfrm>
          <a:prstGeom prst="rect">
            <a:avLst/>
          </a:prstGeom>
          <a:noFill/>
          <a:ln/>
        </p:spPr>
        <p:txBody>
          <a:bodyPr wrap="square" lIns="0" tIns="0" rIns="0" bIns="0" rtlCol="0" anchor="ctr"/>
          <a:lstStyle/>
          <a:p>
            <a:pPr indent="0" marL="0">
              <a:buNone/>
            </a:pPr>
            <a:r>
              <a:rPr lang="en-US" sz="3200" dirty="0">
                <a:solidFill>
                  <a:srgbClr val="BF3A1E"/>
                </a:solidFill>
                <a:latin typeface="Alsina" pitchFamily="34" charset="0"/>
                <a:ea typeface="Alsina" pitchFamily="34" charset="-122"/>
                <a:cs typeface="Alsina" pitchFamily="34" charset="-120"/>
              </a:rPr>
              <a:t>2</a:t>
            </a:r>
            <a:endParaRPr lang="en-US" sz="3200" dirty="0"/>
          </a:p>
        </p:txBody>
      </p:sp>
      <p:sp>
        <p:nvSpPr>
          <p:cNvPr id="22" name="Text 20"/>
          <p:cNvSpPr txBox="1"/>
          <p:nvPr/>
        </p:nvSpPr>
        <p:spPr>
          <a:xfrm>
            <a:off x="8001000" y="2807208"/>
            <a:ext cx="3749040" cy="457200"/>
          </a:xfrm>
          <a:prstGeom prst="rect">
            <a:avLst/>
          </a:prstGeom>
          <a:noFill/>
          <a:ln/>
        </p:spPr>
        <p:txBody>
          <a:bodyPr wrap="square" lIns="0" tIns="0" rIns="0" bIns="0" rtlCol="0" anchor="ctr"/>
          <a:lstStyle/>
          <a:p>
            <a:pPr indent="0" marL="0">
              <a:buNone/>
            </a:pPr>
            <a:r>
              <a:rPr lang="en-US" sz="1700" b="1" dirty="0">
                <a:solidFill>
                  <a:srgbClr val="1A1712"/>
                </a:solidFill>
                <a:latin typeface="Georgia" pitchFamily="34" charset="0"/>
                <a:ea typeface="Georgia" pitchFamily="34" charset="-122"/>
                <a:cs typeface="Georgia" pitchFamily="34" charset="-120"/>
              </a:rPr>
              <a:t>100% to the streamer, instantly</a:t>
            </a:r>
            <a:endParaRPr lang="en-US" sz="1700" dirty="0"/>
          </a:p>
        </p:txBody>
      </p:sp>
      <p:sp>
        <p:nvSpPr>
          <p:cNvPr id="23" name="Text 21"/>
          <p:cNvSpPr txBox="1"/>
          <p:nvPr/>
        </p:nvSpPr>
        <p:spPr>
          <a:xfrm>
            <a:off x="8001000" y="3264408"/>
            <a:ext cx="3749040" cy="777240"/>
          </a:xfrm>
          <a:prstGeom prst="rect">
            <a:avLst/>
          </a:prstGeom>
          <a:noFill/>
          <a:ln/>
        </p:spPr>
        <p:txBody>
          <a:bodyPr wrap="square" lIns="0" tIns="0" rIns="0" bIns="0" rtlCol="0" anchor="ctr"/>
          <a:lstStyle/>
          <a:p>
            <a:pPr indent="0" marL="0">
              <a:lnSpc>
                <a:spcPts val="1700"/>
              </a:lnSpc>
              <a:buNone/>
            </a:pPr>
            <a:r>
              <a:rPr lang="en-US" sz="1300" dirty="0">
                <a:solidFill>
                  <a:srgbClr val="71685A"/>
                </a:solidFill>
                <a:latin typeface="Georgia" pitchFamily="34" charset="0"/>
                <a:ea typeface="Georgia" pitchFamily="34" charset="-122"/>
                <a:cs typeface="Georgia" pitchFamily="34" charset="-120"/>
              </a:rPr>
              <a:t>push transfer inside the same transaction — no custody, no payout day</a:t>
            </a:r>
            <a:endParaRPr lang="en-US" sz="1300" dirty="0"/>
          </a:p>
        </p:txBody>
      </p:sp>
      <p:sp>
        <p:nvSpPr>
          <p:cNvPr id="24" name="Text 22"/>
          <p:cNvSpPr txBox="1"/>
          <p:nvPr/>
        </p:nvSpPr>
        <p:spPr>
          <a:xfrm>
            <a:off x="7452360" y="4160520"/>
            <a:ext cx="502920" cy="548640"/>
          </a:xfrm>
          <a:prstGeom prst="rect">
            <a:avLst/>
          </a:prstGeom>
          <a:noFill/>
          <a:ln/>
        </p:spPr>
        <p:txBody>
          <a:bodyPr wrap="square" lIns="0" tIns="0" rIns="0" bIns="0" rtlCol="0" anchor="ctr"/>
          <a:lstStyle/>
          <a:p>
            <a:pPr indent="0" marL="0">
              <a:buNone/>
            </a:pPr>
            <a:r>
              <a:rPr lang="en-US" sz="3200" dirty="0">
                <a:solidFill>
                  <a:srgbClr val="BF3A1E"/>
                </a:solidFill>
                <a:latin typeface="Alsina" pitchFamily="34" charset="0"/>
                <a:ea typeface="Alsina" pitchFamily="34" charset="-122"/>
                <a:cs typeface="Alsina" pitchFamily="34" charset="-120"/>
              </a:rPr>
              <a:t>3</a:t>
            </a:r>
            <a:endParaRPr lang="en-US" sz="3200" dirty="0"/>
          </a:p>
        </p:txBody>
      </p:sp>
      <p:sp>
        <p:nvSpPr>
          <p:cNvPr id="25" name="Text 23"/>
          <p:cNvSpPr txBox="1"/>
          <p:nvPr/>
        </p:nvSpPr>
        <p:spPr>
          <a:xfrm>
            <a:off x="8001000" y="4178808"/>
            <a:ext cx="3749040" cy="457200"/>
          </a:xfrm>
          <a:prstGeom prst="rect">
            <a:avLst/>
          </a:prstGeom>
          <a:noFill/>
          <a:ln/>
        </p:spPr>
        <p:txBody>
          <a:bodyPr wrap="square" lIns="0" tIns="0" rIns="0" bIns="0" rtlCol="0" anchor="ctr"/>
          <a:lstStyle/>
          <a:p>
            <a:pPr indent="0" marL="0">
              <a:buNone/>
            </a:pPr>
            <a:r>
              <a:rPr lang="en-US" sz="1700" b="1" dirty="0">
                <a:solidFill>
                  <a:srgbClr val="1A1712"/>
                </a:solidFill>
                <a:latin typeface="Georgia" pitchFamily="34" charset="0"/>
                <a:ea typeface="Georgia" pitchFamily="34" charset="-122"/>
                <a:cs typeface="Georgia" pitchFamily="34" charset="-120"/>
              </a:rPr>
              <a:t>A layer, not a platform</a:t>
            </a:r>
            <a:endParaRPr lang="en-US" sz="1700" dirty="0"/>
          </a:p>
        </p:txBody>
      </p:sp>
      <p:sp>
        <p:nvSpPr>
          <p:cNvPr id="26" name="Text 24"/>
          <p:cNvSpPr txBox="1"/>
          <p:nvPr/>
        </p:nvSpPr>
        <p:spPr>
          <a:xfrm>
            <a:off x="8001000" y="4636008"/>
            <a:ext cx="3749040" cy="777240"/>
          </a:xfrm>
          <a:prstGeom prst="rect">
            <a:avLst/>
          </a:prstGeom>
          <a:noFill/>
          <a:ln/>
        </p:spPr>
        <p:txBody>
          <a:bodyPr wrap="square" lIns="0" tIns="0" rIns="0" bIns="0" rtlCol="0" anchor="ctr"/>
          <a:lstStyle/>
          <a:p>
            <a:pPr indent="0" marL="0">
              <a:lnSpc>
                <a:spcPts val="1700"/>
              </a:lnSpc>
              <a:buNone/>
            </a:pPr>
            <a:r>
              <a:rPr lang="en-US" sz="1300" dirty="0">
                <a:solidFill>
                  <a:srgbClr val="71685A"/>
                </a:solidFill>
                <a:latin typeface="Georgia" pitchFamily="34" charset="0"/>
                <a:ea typeface="Georgia" pitchFamily="34" charset="-122"/>
                <a:cs typeface="Georgia" pitchFamily="34" charset="-120"/>
              </a:rPr>
              <a:t>works on top of Twitch / YouTube / Kick, with an OBS overlay</a:t>
            </a:r>
            <a:endParaRPr lang="en-US" sz="1300" dirty="0"/>
          </a:p>
        </p:txBody>
      </p:sp>
      <p:sp>
        <p:nvSpPr>
          <p:cNvPr id="27" name="Text 2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600" i="1" dirty="0">
                <a:solidFill>
                  <a:srgbClr val="71685A"/>
                </a:solidFill>
                <a:latin typeface="Georgia" pitchFamily="34" charset="0"/>
                <a:ea typeface="Georgia" pitchFamily="34" charset="-122"/>
                <a:cs typeface="Georgia" pitchFamily="34" charset="-120"/>
              </a:rPr>
              <a:t>Spam gets expensive. Attention gets honestly paid for.</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712"/>
        </a:solidFill>
      </p:bgPr>
    </p:bg>
    <p:spTree>
      <p:nvGrpSpPr>
        <p:cNvPr id="1" name=""/>
        <p:cNvGrpSpPr/>
        <p:nvPr/>
      </p:nvGrpSpPr>
      <p:grpSpPr>
        <a:xfrm>
          <a:off x="0" y="0"/>
          <a:ext cx="0" cy="0"/>
          <a:chOff x="0" y="0"/>
          <a:chExt cx="0" cy="0"/>
        </a:xfrm>
      </p:grpSpPr>
      <p:sp>
        <p:nvSpPr>
          <p:cNvPr id="2" name="Text 0"/>
          <p:cNvSpPr txBox="1"/>
          <p:nvPr/>
        </p:nvSpPr>
        <p:spPr>
          <a:xfrm>
            <a:off x="548640" y="384048"/>
            <a:ext cx="9601200" cy="457200"/>
          </a:xfrm>
          <a:prstGeom prst="rect">
            <a:avLst/>
          </a:prstGeom>
          <a:noFill/>
          <a:ln/>
        </p:spPr>
        <p:txBody>
          <a:bodyPr wrap="square" lIns="0" tIns="0" rIns="0" bIns="0" rtlCol="0" anchor="ctr"/>
          <a:lstStyle/>
          <a:p>
            <a:pPr indent="0" marL="0">
              <a:buNone/>
            </a:pPr>
            <a:r>
              <a:rPr lang="en-US" sz="1500" b="1" spc="400" kern="0" dirty="0">
                <a:solidFill>
                  <a:srgbClr val="F4EFE6"/>
                </a:solidFill>
                <a:latin typeface="Courier New" pitchFamily="34" charset="0"/>
                <a:ea typeface="Courier New" pitchFamily="34" charset="-122"/>
                <a:cs typeface="Courier New" pitchFamily="34" charset="-120"/>
              </a:rPr>
              <a:t>IMPOSSIBLE ELSEWHERE · 1 — LATENCY</a:t>
            </a:r>
            <a:endParaRPr lang="en-US" sz="1500" dirty="0"/>
          </a:p>
        </p:txBody>
      </p:sp>
      <p:sp>
        <p:nvSpPr>
          <p:cNvPr id="3" name="Shape 1"/>
          <p:cNvSpPr/>
          <p:nvPr/>
        </p:nvSpPr>
        <p:spPr>
          <a:xfrm>
            <a:off x="6217920" y="630936"/>
            <a:ext cx="4919472" cy="0"/>
          </a:xfrm>
          <a:prstGeom prst="line">
            <a:avLst/>
          </a:prstGeom>
          <a:noFill/>
          <a:ln w="12700">
            <a:solidFill>
              <a:srgbClr val="BFB6A4"/>
            </a:solidFill>
            <a:prstDash val="sysDot"/>
          </a:ln>
        </p:spPr>
      </p:sp>
      <p:sp>
        <p:nvSpPr>
          <p:cNvPr id="4" name="Text 2"/>
          <p:cNvSpPr txBox="1"/>
          <p:nvPr/>
        </p:nvSpPr>
        <p:spPr>
          <a:xfrm>
            <a:off x="11137392" y="384048"/>
            <a:ext cx="502920" cy="457200"/>
          </a:xfrm>
          <a:prstGeom prst="rect">
            <a:avLst/>
          </a:prstGeom>
          <a:noFill/>
          <a:ln/>
        </p:spPr>
        <p:txBody>
          <a:bodyPr wrap="square" lIns="0" tIns="0" rIns="0" bIns="0" rtlCol="0" anchor="ctr"/>
          <a:lstStyle/>
          <a:p>
            <a:pPr algn="r" indent="0" marL="0">
              <a:buNone/>
            </a:pPr>
            <a:r>
              <a:rPr lang="en-US" sz="1500" dirty="0">
                <a:solidFill>
                  <a:srgbClr val="BFB6A4"/>
                </a:solidFill>
                <a:latin typeface="Courier New" pitchFamily="34" charset="0"/>
                <a:ea typeface="Courier New" pitchFamily="34" charset="-122"/>
                <a:cs typeface="Courier New" pitchFamily="34" charset="-120"/>
              </a:rPr>
              <a:t>03</a:t>
            </a:r>
            <a:endParaRPr lang="en-US" sz="1500" dirty="0"/>
          </a:p>
        </p:txBody>
      </p:sp>
      <p:sp>
        <p:nvSpPr>
          <p:cNvPr id="5" name="Text 3"/>
          <p:cNvSpPr txBox="1"/>
          <p:nvPr/>
        </p:nvSpPr>
        <p:spPr>
          <a:xfrm>
            <a:off x="548640" y="1234440"/>
            <a:ext cx="10972800" cy="502920"/>
          </a:xfrm>
          <a:prstGeom prst="rect">
            <a:avLst/>
          </a:prstGeom>
          <a:noFill/>
          <a:ln/>
        </p:spPr>
        <p:txBody>
          <a:bodyPr wrap="square" lIns="0" tIns="0" rIns="0" bIns="0" rtlCol="0" anchor="ctr"/>
          <a:lstStyle/>
          <a:p>
            <a:pPr indent="0" marL="0">
              <a:buNone/>
            </a:pPr>
            <a:r>
              <a:rPr lang="en-US" sz="2000" dirty="0">
                <a:solidFill>
                  <a:srgbClr val="E5DFD2"/>
                </a:solidFill>
                <a:latin typeface="Georgia" pitchFamily="34" charset="0"/>
                <a:ea typeface="Georgia" pitchFamily="34" charset="-122"/>
                <a:cs typeface="Georgia" pitchFamily="34" charset="-120"/>
              </a:rPr>
              <a:t>A chat message must land before the reply is typed — or it is not a chat.</a:t>
            </a:r>
            <a:endParaRPr lang="en-US" sz="2000" dirty="0"/>
          </a:p>
        </p:txBody>
      </p:sp>
      <p:sp>
        <p:nvSpPr>
          <p:cNvPr id="6" name="Text 4"/>
          <p:cNvSpPr txBox="1"/>
          <p:nvPr/>
        </p:nvSpPr>
        <p:spPr>
          <a:xfrm>
            <a:off x="548640" y="1965960"/>
            <a:ext cx="2194560" cy="457200"/>
          </a:xfrm>
          <a:prstGeom prst="rect">
            <a:avLst/>
          </a:prstGeom>
          <a:noFill/>
          <a:ln/>
        </p:spPr>
        <p:txBody>
          <a:bodyPr wrap="square" lIns="0" tIns="0" rIns="0" bIns="0" rtlCol="0" anchor="ctr"/>
          <a:lstStyle/>
          <a:p>
            <a:pPr indent="0" marL="0">
              <a:buNone/>
            </a:pPr>
            <a:r>
              <a:rPr lang="en-US" sz="1900" b="1" dirty="0">
                <a:solidFill>
                  <a:srgbClr val="BFB6A4"/>
                </a:solidFill>
                <a:latin typeface="Georgia" pitchFamily="34" charset="0"/>
                <a:ea typeface="Georgia" pitchFamily="34" charset="-122"/>
                <a:cs typeface="Georgia" pitchFamily="34" charset="-120"/>
              </a:rPr>
              <a:t>Ethereum L1</a:t>
            </a:r>
            <a:endParaRPr lang="en-US" sz="1900" dirty="0"/>
          </a:p>
        </p:txBody>
      </p:sp>
      <p:sp>
        <p:nvSpPr>
          <p:cNvPr id="7" name="Text 5"/>
          <p:cNvSpPr txBox="1"/>
          <p:nvPr/>
        </p:nvSpPr>
        <p:spPr>
          <a:xfrm>
            <a:off x="2834640" y="1965960"/>
            <a:ext cx="2377440" cy="457200"/>
          </a:xfrm>
          <a:prstGeom prst="rect">
            <a:avLst/>
          </a:prstGeom>
          <a:noFill/>
          <a:ln/>
        </p:spPr>
        <p:txBody>
          <a:bodyPr wrap="square" lIns="0" tIns="0" rIns="0" bIns="0" rtlCol="0" anchor="ctr"/>
          <a:lstStyle/>
          <a:p>
            <a:pPr indent="0" marL="0">
              <a:buNone/>
            </a:pPr>
            <a:r>
              <a:rPr lang="en-US" sz="1500" b="1" dirty="0">
                <a:solidFill>
                  <a:srgbClr val="BFB6A4"/>
                </a:solidFill>
                <a:latin typeface="Courier New" pitchFamily="34" charset="0"/>
                <a:ea typeface="Courier New" pitchFamily="34" charset="-122"/>
                <a:cs typeface="Courier New" pitchFamily="34" charset="-120"/>
              </a:rPr>
              <a:t>12 s blocks</a:t>
            </a:r>
            <a:endParaRPr lang="en-US" sz="1500" dirty="0"/>
          </a:p>
        </p:txBody>
      </p:sp>
      <p:sp>
        <p:nvSpPr>
          <p:cNvPr id="8" name="Shape 6"/>
          <p:cNvSpPr/>
          <p:nvPr/>
        </p:nvSpPr>
        <p:spPr>
          <a:xfrm>
            <a:off x="5349240" y="2258568"/>
            <a:ext cx="548640" cy="0"/>
          </a:xfrm>
          <a:prstGeom prst="line">
            <a:avLst/>
          </a:prstGeom>
          <a:noFill/>
          <a:ln w="12700">
            <a:solidFill>
              <a:srgbClr val="4A443A"/>
            </a:solidFill>
            <a:prstDash val="sysDot"/>
          </a:ln>
        </p:spPr>
      </p:sp>
      <p:sp>
        <p:nvSpPr>
          <p:cNvPr id="9" name="Text 7"/>
          <p:cNvSpPr txBox="1"/>
          <p:nvPr/>
        </p:nvSpPr>
        <p:spPr>
          <a:xfrm>
            <a:off x="6035040" y="1965960"/>
            <a:ext cx="5577840" cy="502920"/>
          </a:xfrm>
          <a:prstGeom prst="rect">
            <a:avLst/>
          </a:prstGeom>
          <a:noFill/>
          <a:ln/>
        </p:spPr>
        <p:txBody>
          <a:bodyPr wrap="square" lIns="0" tIns="0" rIns="0" bIns="0" rtlCol="0" anchor="ctr"/>
          <a:lstStyle/>
          <a:p>
            <a:pPr indent="0" marL="0">
              <a:buNone/>
            </a:pPr>
            <a:r>
              <a:rPr lang="en-US" sz="1500" i="1" dirty="0">
                <a:solidFill>
                  <a:srgbClr val="BFB6A4"/>
                </a:solidFill>
                <a:latin typeface="Georgia" pitchFamily="34" charset="0"/>
                <a:ea typeface="Georgia" pitchFamily="34" charset="-122"/>
                <a:cs typeface="Georgia" pitchFamily="34" charset="-120"/>
              </a:rPr>
              <a:t>a letter — the conversation is over before it arrives</a:t>
            </a:r>
            <a:endParaRPr lang="en-US" sz="1500" dirty="0"/>
          </a:p>
        </p:txBody>
      </p:sp>
      <p:sp>
        <p:nvSpPr>
          <p:cNvPr id="10" name="Text 8"/>
          <p:cNvSpPr txBox="1"/>
          <p:nvPr/>
        </p:nvSpPr>
        <p:spPr>
          <a:xfrm>
            <a:off x="548640" y="2880360"/>
            <a:ext cx="2194560" cy="457200"/>
          </a:xfrm>
          <a:prstGeom prst="rect">
            <a:avLst/>
          </a:prstGeom>
          <a:noFill/>
          <a:ln/>
        </p:spPr>
        <p:txBody>
          <a:bodyPr wrap="square" lIns="0" tIns="0" rIns="0" bIns="0" rtlCol="0" anchor="ctr"/>
          <a:lstStyle/>
          <a:p>
            <a:pPr indent="0" marL="0">
              <a:buNone/>
            </a:pPr>
            <a:r>
              <a:rPr lang="en-US" sz="1900" b="1" dirty="0">
                <a:solidFill>
                  <a:srgbClr val="BFB6A4"/>
                </a:solidFill>
                <a:latin typeface="Georgia" pitchFamily="34" charset="0"/>
                <a:ea typeface="Georgia" pitchFamily="34" charset="-122"/>
                <a:cs typeface="Georgia" pitchFamily="34" charset="-120"/>
              </a:rPr>
              <a:t>fast L2s</a:t>
            </a:r>
            <a:endParaRPr lang="en-US" sz="1900" dirty="0"/>
          </a:p>
        </p:txBody>
      </p:sp>
      <p:sp>
        <p:nvSpPr>
          <p:cNvPr id="11" name="Text 9"/>
          <p:cNvSpPr txBox="1"/>
          <p:nvPr/>
        </p:nvSpPr>
        <p:spPr>
          <a:xfrm>
            <a:off x="2834640" y="2880360"/>
            <a:ext cx="2377440" cy="457200"/>
          </a:xfrm>
          <a:prstGeom prst="rect">
            <a:avLst/>
          </a:prstGeom>
          <a:noFill/>
          <a:ln/>
        </p:spPr>
        <p:txBody>
          <a:bodyPr wrap="square" lIns="0" tIns="0" rIns="0" bIns="0" rtlCol="0" anchor="ctr"/>
          <a:lstStyle/>
          <a:p>
            <a:pPr indent="0" marL="0">
              <a:buNone/>
            </a:pPr>
            <a:r>
              <a:rPr lang="en-US" sz="1500" b="1" dirty="0">
                <a:solidFill>
                  <a:srgbClr val="BFB6A4"/>
                </a:solidFill>
                <a:latin typeface="Courier New" pitchFamily="34" charset="0"/>
                <a:ea typeface="Courier New" pitchFamily="34" charset="-122"/>
                <a:cs typeface="Courier New" pitchFamily="34" charset="-120"/>
              </a:rPr>
              <a:t>~1–2 s + fees</a:t>
            </a:r>
            <a:endParaRPr lang="en-US" sz="1500" dirty="0"/>
          </a:p>
        </p:txBody>
      </p:sp>
      <p:sp>
        <p:nvSpPr>
          <p:cNvPr id="12" name="Shape 10"/>
          <p:cNvSpPr/>
          <p:nvPr/>
        </p:nvSpPr>
        <p:spPr>
          <a:xfrm>
            <a:off x="5349240" y="3172968"/>
            <a:ext cx="548640" cy="0"/>
          </a:xfrm>
          <a:prstGeom prst="line">
            <a:avLst/>
          </a:prstGeom>
          <a:noFill/>
          <a:ln w="12700">
            <a:solidFill>
              <a:srgbClr val="4A443A"/>
            </a:solidFill>
            <a:prstDash val="sysDot"/>
          </a:ln>
        </p:spPr>
      </p:sp>
      <p:sp>
        <p:nvSpPr>
          <p:cNvPr id="13" name="Text 11"/>
          <p:cNvSpPr txBox="1"/>
          <p:nvPr/>
        </p:nvSpPr>
        <p:spPr>
          <a:xfrm>
            <a:off x="6035040" y="2880360"/>
            <a:ext cx="5577840" cy="502920"/>
          </a:xfrm>
          <a:prstGeom prst="rect">
            <a:avLst/>
          </a:prstGeom>
          <a:noFill/>
          <a:ln/>
        </p:spPr>
        <p:txBody>
          <a:bodyPr wrap="square" lIns="0" tIns="0" rIns="0" bIns="0" rtlCol="0" anchor="ctr"/>
          <a:lstStyle/>
          <a:p>
            <a:pPr indent="0" marL="0">
              <a:buNone/>
            </a:pPr>
            <a:r>
              <a:rPr lang="en-US" sz="1500" i="1" dirty="0">
                <a:solidFill>
                  <a:srgbClr val="BFB6A4"/>
                </a:solidFill>
                <a:latin typeface="Georgia" pitchFamily="34" charset="0"/>
                <a:ea typeface="Georgia" pitchFamily="34" charset="-122"/>
                <a:cs typeface="Georgia" pitchFamily="34" charset="-120"/>
              </a:rPr>
              <a:t>a walkie-talkie — possible, never natural</a:t>
            </a:r>
            <a:endParaRPr lang="en-US" sz="1500" dirty="0"/>
          </a:p>
        </p:txBody>
      </p:sp>
      <p:sp>
        <p:nvSpPr>
          <p:cNvPr id="14" name="Text 12"/>
          <p:cNvSpPr txBox="1"/>
          <p:nvPr/>
        </p:nvSpPr>
        <p:spPr>
          <a:xfrm>
            <a:off x="548640" y="3794760"/>
            <a:ext cx="2194560" cy="457200"/>
          </a:xfrm>
          <a:prstGeom prst="rect">
            <a:avLst/>
          </a:prstGeom>
          <a:noFill/>
          <a:ln/>
        </p:spPr>
        <p:txBody>
          <a:bodyPr wrap="square" lIns="0" tIns="0" rIns="0" bIns="0" rtlCol="0" anchor="ctr"/>
          <a:lstStyle/>
          <a:p>
            <a:pPr indent="0" marL="0">
              <a:buNone/>
            </a:pPr>
            <a:r>
              <a:rPr lang="en-US" sz="1900" b="1" dirty="0">
                <a:solidFill>
                  <a:srgbClr val="F4EFE6"/>
                </a:solidFill>
                <a:latin typeface="Georgia" pitchFamily="34" charset="0"/>
                <a:ea typeface="Georgia" pitchFamily="34" charset="-122"/>
                <a:cs typeface="Georgia" pitchFamily="34" charset="-120"/>
              </a:rPr>
              <a:t>here · Monad</a:t>
            </a:r>
            <a:endParaRPr lang="en-US" sz="1900" dirty="0"/>
          </a:p>
        </p:txBody>
      </p:sp>
      <p:sp>
        <p:nvSpPr>
          <p:cNvPr id="15" name="Text 13"/>
          <p:cNvSpPr txBox="1"/>
          <p:nvPr/>
        </p:nvSpPr>
        <p:spPr>
          <a:xfrm>
            <a:off x="2834640" y="3794760"/>
            <a:ext cx="2377440" cy="457200"/>
          </a:xfrm>
          <a:prstGeom prst="rect">
            <a:avLst/>
          </a:prstGeom>
          <a:noFill/>
          <a:ln/>
        </p:spPr>
        <p:txBody>
          <a:bodyPr wrap="square" lIns="0" tIns="0" rIns="0" bIns="0" rtlCol="0" anchor="ctr"/>
          <a:lstStyle/>
          <a:p>
            <a:pPr indent="0" marL="0">
              <a:buNone/>
            </a:pPr>
            <a:r>
              <a:rPr lang="en-US" sz="1500" b="1" dirty="0">
                <a:solidFill>
                  <a:srgbClr val="BF3A1E"/>
                </a:solidFill>
                <a:latin typeface="Courier New" pitchFamily="34" charset="0"/>
                <a:ea typeface="Courier New" pitchFamily="34" charset="-122"/>
                <a:cs typeface="Courier New" pitchFamily="34" charset="-120"/>
              </a:rPr>
              <a:t>400 ms blocks</a:t>
            </a:r>
            <a:endParaRPr lang="en-US" sz="1500" dirty="0"/>
          </a:p>
        </p:txBody>
      </p:sp>
      <p:sp>
        <p:nvSpPr>
          <p:cNvPr id="16" name="Shape 14"/>
          <p:cNvSpPr/>
          <p:nvPr/>
        </p:nvSpPr>
        <p:spPr>
          <a:xfrm>
            <a:off x="5349240" y="4087368"/>
            <a:ext cx="548640" cy="0"/>
          </a:xfrm>
          <a:prstGeom prst="line">
            <a:avLst/>
          </a:prstGeom>
          <a:noFill/>
          <a:ln w="12700">
            <a:solidFill>
              <a:srgbClr val="4A443A"/>
            </a:solidFill>
            <a:prstDash val="sysDot"/>
          </a:ln>
        </p:spPr>
      </p:sp>
      <p:sp>
        <p:nvSpPr>
          <p:cNvPr id="17" name="Text 15"/>
          <p:cNvSpPr txBox="1"/>
          <p:nvPr/>
        </p:nvSpPr>
        <p:spPr>
          <a:xfrm>
            <a:off x="6035040" y="3794760"/>
            <a:ext cx="5577840" cy="502920"/>
          </a:xfrm>
          <a:prstGeom prst="rect">
            <a:avLst/>
          </a:prstGeom>
          <a:noFill/>
          <a:ln/>
        </p:spPr>
        <p:txBody>
          <a:bodyPr wrap="square" lIns="0" tIns="0" rIns="0" bIns="0" rtlCol="0" anchor="ctr"/>
          <a:lstStyle/>
          <a:p>
            <a:pPr indent="0" marL="0">
              <a:buNone/>
            </a:pPr>
            <a:r>
              <a:rPr lang="en-US" sz="1500" i="1" dirty="0">
                <a:solidFill>
                  <a:srgbClr val="F4EFE6"/>
                </a:solidFill>
                <a:latin typeface="Georgia" pitchFamily="34" charset="0"/>
                <a:ea typeface="Georgia" pitchFamily="34" charset="-122"/>
                <a:cs typeface="Georgia" pitchFamily="34" charset="-120"/>
              </a:rPr>
              <a:t>a conversation — the transaction IS the message</a:t>
            </a:r>
            <a:endParaRPr lang="en-US" sz="1500" dirty="0"/>
          </a:p>
        </p:txBody>
      </p:sp>
      <p:sp>
        <p:nvSpPr>
          <p:cNvPr id="18" name="Shape 16"/>
          <p:cNvSpPr/>
          <p:nvPr/>
        </p:nvSpPr>
        <p:spPr>
          <a:xfrm>
            <a:off x="548640" y="4892040"/>
            <a:ext cx="11091672" cy="0"/>
          </a:xfrm>
          <a:prstGeom prst="line">
            <a:avLst/>
          </a:prstGeom>
          <a:noFill/>
          <a:ln w="12700">
            <a:solidFill>
              <a:srgbClr val="4A443A"/>
            </a:solidFill>
            <a:prstDash val="solid"/>
          </a:ln>
        </p:spPr>
      </p:sp>
      <p:sp>
        <p:nvSpPr>
          <p:cNvPr id="19" name="Text 17"/>
          <p:cNvSpPr txBox="1"/>
          <p:nvPr/>
        </p:nvSpPr>
        <p:spPr>
          <a:xfrm>
            <a:off x="548640" y="5212080"/>
            <a:ext cx="3291840" cy="1005840"/>
          </a:xfrm>
          <a:prstGeom prst="rect">
            <a:avLst/>
          </a:prstGeom>
          <a:noFill/>
          <a:ln/>
        </p:spPr>
        <p:txBody>
          <a:bodyPr wrap="square" lIns="0" tIns="0" rIns="0" bIns="0" rtlCol="0" anchor="ctr"/>
          <a:lstStyle/>
          <a:p>
            <a:pPr indent="0" marL="0">
              <a:buNone/>
            </a:pPr>
            <a:r>
              <a:rPr lang="en-US" sz="5800" dirty="0">
                <a:solidFill>
                  <a:srgbClr val="F4EFE6"/>
                </a:solidFill>
                <a:latin typeface="Alsina" pitchFamily="34" charset="0"/>
                <a:ea typeface="Alsina" pitchFamily="34" charset="-122"/>
                <a:cs typeface="Alsina" pitchFamily="34" charset="-120"/>
              </a:rPr>
              <a:t>0.5–1.3s</a:t>
            </a:r>
            <a:endParaRPr lang="en-US" sz="5800" dirty="0"/>
          </a:p>
        </p:txBody>
      </p:sp>
      <p:sp>
        <p:nvSpPr>
          <p:cNvPr id="20" name="Text 18"/>
          <p:cNvSpPr txBox="1"/>
          <p:nvPr/>
        </p:nvSpPr>
        <p:spPr>
          <a:xfrm>
            <a:off x="4114800" y="5349240"/>
            <a:ext cx="7498080" cy="822960"/>
          </a:xfrm>
          <a:prstGeom prst="rect">
            <a:avLst/>
          </a:prstGeom>
          <a:noFill/>
          <a:ln/>
        </p:spPr>
        <p:txBody>
          <a:bodyPr wrap="square" lIns="0" tIns="0" rIns="0" bIns="0" rtlCol="0" anchor="ctr"/>
          <a:lstStyle/>
          <a:p>
            <a:pPr indent="0" marL="0">
              <a:lnSpc>
                <a:spcPts val="2100"/>
              </a:lnSpc>
              <a:buNone/>
            </a:pPr>
            <a:r>
              <a:rPr lang="en-US" sz="1500" dirty="0">
                <a:solidFill>
                  <a:srgbClr val="E5DFD2"/>
                </a:solidFill>
                <a:latin typeface="Georgia" pitchFamily="34" charset="0"/>
                <a:ea typeface="Georgia" pitchFamily="34" charset="-122"/>
                <a:cs typeface="Georgia" pitchFamily="34" charset="-120"/>
              </a:rPr>
              <a:t>measured, from hitting send to confirmation on chain —</a:t>
            </a:r>
            <a:endParaRPr lang="en-US" sz="1500" dirty="0"/>
          </a:p>
          <a:p>
            <a:pPr indent="0" marL="0">
              <a:lnSpc>
                <a:spcPts val="2100"/>
              </a:lnSpc>
              <a:buNone/>
            </a:pPr>
            <a:r>
              <a:rPr lang="en-US" sz="1500" dirty="0">
                <a:solidFill>
                  <a:srgbClr val="E5DFD2"/>
                </a:solidFill>
                <a:latin typeface="Georgia" pitchFamily="34" charset="0"/>
                <a:ea typeface="Georgia" pitchFamily="34" charset="-122"/>
                <a:cs typeface="Georgia" pitchFamily="34" charset="-120"/>
              </a:rPr>
              <a:t>and printed live on every message badge in the app</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48640" y="384048"/>
            <a:ext cx="9601200" cy="457200"/>
          </a:xfrm>
          <a:prstGeom prst="rect">
            <a:avLst/>
          </a:prstGeom>
          <a:noFill/>
          <a:ln/>
        </p:spPr>
        <p:txBody>
          <a:bodyPr wrap="square" lIns="0" tIns="0" rIns="0" bIns="0" rtlCol="0" anchor="ctr"/>
          <a:lstStyle/>
          <a:p>
            <a:pPr indent="0" marL="0">
              <a:buNone/>
            </a:pPr>
            <a:r>
              <a:rPr lang="en-US" sz="1500" b="1" spc="400" kern="0" dirty="0">
                <a:solidFill>
                  <a:srgbClr val="1A1712"/>
                </a:solidFill>
                <a:latin typeface="Courier New" pitchFamily="34" charset="0"/>
                <a:ea typeface="Courier New" pitchFamily="34" charset="-122"/>
                <a:cs typeface="Courier New" pitchFamily="34" charset="-120"/>
              </a:rPr>
              <a:t>IMPOSSIBLE ELSEWHERE · 2 — BOTS</a:t>
            </a:r>
            <a:endParaRPr lang="en-US" sz="1500" dirty="0"/>
          </a:p>
        </p:txBody>
      </p:sp>
      <p:sp>
        <p:nvSpPr>
          <p:cNvPr id="3" name="Shape 1"/>
          <p:cNvSpPr/>
          <p:nvPr/>
        </p:nvSpPr>
        <p:spPr>
          <a:xfrm>
            <a:off x="5737860" y="630936"/>
            <a:ext cx="5399532" cy="0"/>
          </a:xfrm>
          <a:prstGeom prst="line">
            <a:avLst/>
          </a:prstGeom>
          <a:noFill/>
          <a:ln w="12700">
            <a:solidFill>
              <a:srgbClr val="71685A"/>
            </a:solidFill>
            <a:prstDash val="sysDot"/>
          </a:ln>
        </p:spPr>
      </p:sp>
      <p:sp>
        <p:nvSpPr>
          <p:cNvPr id="4" name="Text 2"/>
          <p:cNvSpPr txBox="1"/>
          <p:nvPr/>
        </p:nvSpPr>
        <p:spPr>
          <a:xfrm>
            <a:off x="11137392" y="384048"/>
            <a:ext cx="502920" cy="457200"/>
          </a:xfrm>
          <a:prstGeom prst="rect">
            <a:avLst/>
          </a:prstGeom>
          <a:noFill/>
          <a:ln/>
        </p:spPr>
        <p:txBody>
          <a:bodyPr wrap="square" lIns="0" tIns="0" rIns="0" bIns="0" rtlCol="0" anchor="ctr"/>
          <a:lstStyle/>
          <a:p>
            <a:pPr algn="r" indent="0" marL="0">
              <a:buNone/>
            </a:pPr>
            <a:r>
              <a:rPr lang="en-US" sz="1500" dirty="0">
                <a:solidFill>
                  <a:srgbClr val="71685A"/>
                </a:solidFill>
                <a:latin typeface="Courier New" pitchFamily="34" charset="0"/>
                <a:ea typeface="Courier New" pitchFamily="34" charset="-122"/>
                <a:cs typeface="Courier New" pitchFamily="34" charset="-120"/>
              </a:rPr>
              <a:t>04</a:t>
            </a:r>
            <a:endParaRPr lang="en-US" sz="1500" dirty="0"/>
          </a:p>
        </p:txBody>
      </p:sp>
      <p:sp>
        <p:nvSpPr>
          <p:cNvPr id="5" name="Text 3"/>
          <p:cNvSpPr txBox="1"/>
          <p:nvPr/>
        </p:nvSpPr>
        <p:spPr>
          <a:xfrm>
            <a:off x="548640" y="1234440"/>
            <a:ext cx="11064240" cy="914400"/>
          </a:xfrm>
          <a:prstGeom prst="rect">
            <a:avLst/>
          </a:prstGeom>
          <a:noFill/>
          <a:ln/>
        </p:spPr>
        <p:txBody>
          <a:bodyPr wrap="square" lIns="0" tIns="0" rIns="0" bIns="0" rtlCol="0" anchor="ctr"/>
          <a:lstStyle/>
          <a:p>
            <a:pPr indent="0" marL="0">
              <a:lnSpc>
                <a:spcPts val="2300"/>
              </a:lnSpc>
              <a:buNone/>
            </a:pPr>
            <a:r>
              <a:rPr lang="en-US" sz="1700" dirty="0">
                <a:solidFill>
                  <a:srgbClr val="1A1712"/>
                </a:solidFill>
                <a:latin typeface="Georgia" pitchFamily="34" charset="0"/>
                <a:ea typeface="Georgia" pitchFamily="34" charset="-122"/>
                <a:cs typeface="Georgia" pitchFamily="34" charset="-120"/>
              </a:rPr>
              <a:t>Paid chat still dies to bots — unless someone rate-limits. Everywhere else that someone is your server. Here it is the consensus itself: one spending tx per wallet per ~1.2 s; the rest revert and still pay gas.</a:t>
            </a:r>
            <a:endParaRPr lang="en-US" sz="1700" dirty="0"/>
          </a:p>
        </p:txBody>
      </p:sp>
      <p:sp>
        <p:nvSpPr>
          <p:cNvPr id="6" name="Text 4"/>
          <p:cNvSpPr txBox="1"/>
          <p:nvPr/>
        </p:nvSpPr>
        <p:spPr>
          <a:xfrm>
            <a:off x="548640" y="2286000"/>
            <a:ext cx="5486400" cy="365760"/>
          </a:xfrm>
          <a:prstGeom prst="rect">
            <a:avLst/>
          </a:prstGeom>
          <a:noFill/>
          <a:ln/>
        </p:spPr>
        <p:txBody>
          <a:bodyPr wrap="square" lIns="0" tIns="0" rIns="0" bIns="0" rtlCol="0" anchor="ctr"/>
          <a:lstStyle/>
          <a:p>
            <a:pPr indent="0" marL="0">
              <a:buNone/>
            </a:pPr>
            <a:r>
              <a:rPr lang="en-US" sz="1200" b="1" spc="200" kern="0" dirty="0">
                <a:solidFill>
                  <a:srgbClr val="71685A"/>
                </a:solidFill>
                <a:latin typeface="Courier New" pitchFamily="34" charset="0"/>
                <a:ea typeface="Courier New" pitchFamily="34" charset="-122"/>
                <a:cs typeface="Courier New" pitchFamily="34" charset="-120"/>
              </a:rPr>
              <a:t>OUR 5-TX EXPERIMENT, LIVE NETWORK</a:t>
            </a:r>
            <a:endParaRPr lang="en-US" sz="1200" dirty="0"/>
          </a:p>
        </p:txBody>
      </p:sp>
      <p:sp>
        <p:nvSpPr>
          <p:cNvPr id="7" name="Text 5"/>
          <p:cNvSpPr txBox="1"/>
          <p:nvPr/>
        </p:nvSpPr>
        <p:spPr>
          <a:xfrm>
            <a:off x="548640" y="2743200"/>
            <a:ext cx="3168396" cy="411480"/>
          </a:xfrm>
          <a:prstGeom prst="rect">
            <a:avLst/>
          </a:prstGeom>
          <a:noFill/>
          <a:ln/>
        </p:spPr>
        <p:txBody>
          <a:bodyPr wrap="square" lIns="0" tIns="0" rIns="0" bIns="0" rtlCol="0" anchor="ctr"/>
          <a:lstStyle/>
          <a:p>
            <a:pPr indent="0" marL="0">
              <a:buNone/>
            </a:pPr>
            <a:r>
              <a:rPr lang="en-US" sz="1500" dirty="0">
                <a:solidFill>
                  <a:srgbClr val="1A1712"/>
                </a:solidFill>
                <a:latin typeface="Georgia" pitchFamily="34" charset="0"/>
                <a:ea typeface="Georgia" pitchFamily="34" charset="-122"/>
                <a:cs typeface="Georgia" pitchFamily="34" charset="-120"/>
              </a:rPr>
              <a:t>tx 0 — included</a:t>
            </a:r>
            <a:endParaRPr lang="en-US" sz="1500" dirty="0"/>
          </a:p>
        </p:txBody>
      </p:sp>
      <p:sp>
        <p:nvSpPr>
          <p:cNvPr id="8" name="Shape 6"/>
          <p:cNvSpPr/>
          <p:nvPr/>
        </p:nvSpPr>
        <p:spPr>
          <a:xfrm>
            <a:off x="3808476" y="2980944"/>
            <a:ext cx="32004" cy="0"/>
          </a:xfrm>
          <a:prstGeom prst="line">
            <a:avLst/>
          </a:prstGeom>
          <a:noFill/>
          <a:ln w="12700">
            <a:solidFill>
              <a:srgbClr val="71685A"/>
            </a:solidFill>
            <a:prstDash val="sysDot"/>
          </a:ln>
        </p:spPr>
      </p:sp>
      <p:sp>
        <p:nvSpPr>
          <p:cNvPr id="9" name="Text 7"/>
          <p:cNvSpPr txBox="1"/>
          <p:nvPr/>
        </p:nvSpPr>
        <p:spPr>
          <a:xfrm>
            <a:off x="3931920" y="2743200"/>
            <a:ext cx="2377440" cy="411480"/>
          </a:xfrm>
          <a:prstGeom prst="rect">
            <a:avLst/>
          </a:prstGeom>
          <a:noFill/>
          <a:ln/>
        </p:spPr>
        <p:txBody>
          <a:bodyPr wrap="square" lIns="0" tIns="0" rIns="0" bIns="0" rtlCol="0" anchor="ctr"/>
          <a:lstStyle/>
          <a:p>
            <a:pPr algn="r" indent="0" marL="0">
              <a:buNone/>
            </a:pPr>
            <a:r>
              <a:rPr lang="en-US" sz="1200" b="1" dirty="0">
                <a:solidFill>
                  <a:srgbClr val="1C6B4A"/>
                </a:solidFill>
                <a:latin typeface="Courier New" pitchFamily="34" charset="0"/>
                <a:ea typeface="Courier New" pitchFamily="34" charset="-122"/>
                <a:cs typeface="Courier New" pitchFamily="34" charset="-120"/>
              </a:rPr>
              <a:t>success</a:t>
            </a:r>
            <a:endParaRPr lang="en-US" sz="1200" dirty="0"/>
          </a:p>
        </p:txBody>
      </p:sp>
      <p:sp>
        <p:nvSpPr>
          <p:cNvPr id="10" name="Text 8"/>
          <p:cNvSpPr txBox="1"/>
          <p:nvPr/>
        </p:nvSpPr>
        <p:spPr>
          <a:xfrm>
            <a:off x="548640" y="3255264"/>
            <a:ext cx="3168396" cy="411480"/>
          </a:xfrm>
          <a:prstGeom prst="rect">
            <a:avLst/>
          </a:prstGeom>
          <a:noFill/>
          <a:ln/>
        </p:spPr>
        <p:txBody>
          <a:bodyPr wrap="square" lIns="0" tIns="0" rIns="0" bIns="0" rtlCol="0" anchor="ctr"/>
          <a:lstStyle/>
          <a:p>
            <a:pPr indent="0" marL="0">
              <a:buNone/>
            </a:pPr>
            <a:r>
              <a:rPr lang="en-US" sz="1500" dirty="0">
                <a:solidFill>
                  <a:srgbClr val="1A1712"/>
                </a:solidFill>
                <a:latin typeface="Georgia" pitchFamily="34" charset="0"/>
                <a:ea typeface="Georgia" pitchFamily="34" charset="-122"/>
                <a:cs typeface="Georgia" pitchFamily="34" charset="-120"/>
              </a:rPr>
              <a:t>tx 1 — same second</a:t>
            </a:r>
            <a:endParaRPr lang="en-US" sz="1500" dirty="0"/>
          </a:p>
        </p:txBody>
      </p:sp>
      <p:sp>
        <p:nvSpPr>
          <p:cNvPr id="11" name="Shape 9"/>
          <p:cNvSpPr/>
          <p:nvPr/>
        </p:nvSpPr>
        <p:spPr>
          <a:xfrm>
            <a:off x="3808476" y="3493008"/>
            <a:ext cx="32004" cy="0"/>
          </a:xfrm>
          <a:prstGeom prst="line">
            <a:avLst/>
          </a:prstGeom>
          <a:noFill/>
          <a:ln w="12700">
            <a:solidFill>
              <a:srgbClr val="71685A"/>
            </a:solidFill>
            <a:prstDash val="sysDot"/>
          </a:ln>
        </p:spPr>
      </p:sp>
      <p:sp>
        <p:nvSpPr>
          <p:cNvPr id="12" name="Text 10"/>
          <p:cNvSpPr txBox="1"/>
          <p:nvPr/>
        </p:nvSpPr>
        <p:spPr>
          <a:xfrm>
            <a:off x="3931920" y="3255264"/>
            <a:ext cx="2377440" cy="411480"/>
          </a:xfrm>
          <a:prstGeom prst="rect">
            <a:avLst/>
          </a:prstGeom>
          <a:noFill/>
          <a:ln/>
        </p:spPr>
        <p:txBody>
          <a:bodyPr wrap="square" lIns="0" tIns="0" rIns="0" bIns="0" rtlCol="0" anchor="ctr"/>
          <a:lstStyle/>
          <a:p>
            <a:pPr algn="r" indent="0" marL="0">
              <a:buNone/>
            </a:pPr>
            <a:r>
              <a:rPr lang="en-US" sz="1200" b="1" dirty="0">
                <a:solidFill>
                  <a:srgbClr val="BF3A1E"/>
                </a:solidFill>
                <a:latin typeface="Courier New" pitchFamily="34" charset="0"/>
                <a:ea typeface="Courier New" pitchFamily="34" charset="-122"/>
                <a:cs typeface="Courier New" pitchFamily="34" charset="-120"/>
              </a:rPr>
              <a:t>reverted · gas paid</a:t>
            </a:r>
            <a:endParaRPr lang="en-US" sz="1200" dirty="0"/>
          </a:p>
        </p:txBody>
      </p:sp>
      <p:sp>
        <p:nvSpPr>
          <p:cNvPr id="13" name="Text 11"/>
          <p:cNvSpPr txBox="1"/>
          <p:nvPr/>
        </p:nvSpPr>
        <p:spPr>
          <a:xfrm>
            <a:off x="548640" y="3767328"/>
            <a:ext cx="3168396" cy="411480"/>
          </a:xfrm>
          <a:prstGeom prst="rect">
            <a:avLst/>
          </a:prstGeom>
          <a:noFill/>
          <a:ln/>
        </p:spPr>
        <p:txBody>
          <a:bodyPr wrap="square" lIns="0" tIns="0" rIns="0" bIns="0" rtlCol="0" anchor="ctr"/>
          <a:lstStyle/>
          <a:p>
            <a:pPr indent="0" marL="0">
              <a:buNone/>
            </a:pPr>
            <a:r>
              <a:rPr lang="en-US" sz="1500" dirty="0">
                <a:solidFill>
                  <a:srgbClr val="1A1712"/>
                </a:solidFill>
                <a:latin typeface="Georgia" pitchFamily="34" charset="0"/>
                <a:ea typeface="Georgia" pitchFamily="34" charset="-122"/>
                <a:cs typeface="Georgia" pitchFamily="34" charset="-120"/>
              </a:rPr>
              <a:t>tx 2 — same second</a:t>
            </a:r>
            <a:endParaRPr lang="en-US" sz="1500" dirty="0"/>
          </a:p>
        </p:txBody>
      </p:sp>
      <p:sp>
        <p:nvSpPr>
          <p:cNvPr id="14" name="Shape 12"/>
          <p:cNvSpPr/>
          <p:nvPr/>
        </p:nvSpPr>
        <p:spPr>
          <a:xfrm>
            <a:off x="3808476" y="4005072"/>
            <a:ext cx="32004" cy="0"/>
          </a:xfrm>
          <a:prstGeom prst="line">
            <a:avLst/>
          </a:prstGeom>
          <a:noFill/>
          <a:ln w="12700">
            <a:solidFill>
              <a:srgbClr val="71685A"/>
            </a:solidFill>
            <a:prstDash val="sysDot"/>
          </a:ln>
        </p:spPr>
      </p:sp>
      <p:sp>
        <p:nvSpPr>
          <p:cNvPr id="15" name="Text 13"/>
          <p:cNvSpPr txBox="1"/>
          <p:nvPr/>
        </p:nvSpPr>
        <p:spPr>
          <a:xfrm>
            <a:off x="3931920" y="3767328"/>
            <a:ext cx="2377440" cy="411480"/>
          </a:xfrm>
          <a:prstGeom prst="rect">
            <a:avLst/>
          </a:prstGeom>
          <a:noFill/>
          <a:ln/>
        </p:spPr>
        <p:txBody>
          <a:bodyPr wrap="square" lIns="0" tIns="0" rIns="0" bIns="0" rtlCol="0" anchor="ctr"/>
          <a:lstStyle/>
          <a:p>
            <a:pPr algn="r" indent="0" marL="0">
              <a:buNone/>
            </a:pPr>
            <a:r>
              <a:rPr lang="en-US" sz="1200" b="1" dirty="0">
                <a:solidFill>
                  <a:srgbClr val="BF3A1E"/>
                </a:solidFill>
                <a:latin typeface="Courier New" pitchFamily="34" charset="0"/>
                <a:ea typeface="Courier New" pitchFamily="34" charset="-122"/>
                <a:cs typeface="Courier New" pitchFamily="34" charset="-120"/>
              </a:rPr>
              <a:t>reverted · gas paid</a:t>
            </a:r>
            <a:endParaRPr lang="en-US" sz="1200" dirty="0"/>
          </a:p>
        </p:txBody>
      </p:sp>
      <p:sp>
        <p:nvSpPr>
          <p:cNvPr id="16" name="Text 14"/>
          <p:cNvSpPr txBox="1"/>
          <p:nvPr/>
        </p:nvSpPr>
        <p:spPr>
          <a:xfrm>
            <a:off x="548640" y="4279392"/>
            <a:ext cx="3168396" cy="411480"/>
          </a:xfrm>
          <a:prstGeom prst="rect">
            <a:avLst/>
          </a:prstGeom>
          <a:noFill/>
          <a:ln/>
        </p:spPr>
        <p:txBody>
          <a:bodyPr wrap="square" lIns="0" tIns="0" rIns="0" bIns="0" rtlCol="0" anchor="ctr"/>
          <a:lstStyle/>
          <a:p>
            <a:pPr indent="0" marL="0">
              <a:buNone/>
            </a:pPr>
            <a:r>
              <a:rPr lang="en-US" sz="1500" dirty="0">
                <a:solidFill>
                  <a:srgbClr val="1A1712"/>
                </a:solidFill>
                <a:latin typeface="Georgia" pitchFamily="34" charset="0"/>
                <a:ea typeface="Georgia" pitchFamily="34" charset="-122"/>
                <a:cs typeface="Georgia" pitchFamily="34" charset="-120"/>
              </a:rPr>
              <a:t>tx 3 — same second</a:t>
            </a:r>
            <a:endParaRPr lang="en-US" sz="1500" dirty="0"/>
          </a:p>
        </p:txBody>
      </p:sp>
      <p:sp>
        <p:nvSpPr>
          <p:cNvPr id="17" name="Shape 15"/>
          <p:cNvSpPr/>
          <p:nvPr/>
        </p:nvSpPr>
        <p:spPr>
          <a:xfrm>
            <a:off x="3808476" y="4517136"/>
            <a:ext cx="32004" cy="0"/>
          </a:xfrm>
          <a:prstGeom prst="line">
            <a:avLst/>
          </a:prstGeom>
          <a:noFill/>
          <a:ln w="12700">
            <a:solidFill>
              <a:srgbClr val="71685A"/>
            </a:solidFill>
            <a:prstDash val="sysDot"/>
          </a:ln>
        </p:spPr>
      </p:sp>
      <p:sp>
        <p:nvSpPr>
          <p:cNvPr id="18" name="Text 16"/>
          <p:cNvSpPr txBox="1"/>
          <p:nvPr/>
        </p:nvSpPr>
        <p:spPr>
          <a:xfrm>
            <a:off x="3931920" y="4279392"/>
            <a:ext cx="2377440" cy="411480"/>
          </a:xfrm>
          <a:prstGeom prst="rect">
            <a:avLst/>
          </a:prstGeom>
          <a:noFill/>
          <a:ln/>
        </p:spPr>
        <p:txBody>
          <a:bodyPr wrap="square" lIns="0" tIns="0" rIns="0" bIns="0" rtlCol="0" anchor="ctr"/>
          <a:lstStyle/>
          <a:p>
            <a:pPr algn="r" indent="0" marL="0">
              <a:buNone/>
            </a:pPr>
            <a:r>
              <a:rPr lang="en-US" sz="1200" b="1" dirty="0">
                <a:solidFill>
                  <a:srgbClr val="BF3A1E"/>
                </a:solidFill>
                <a:latin typeface="Courier New" pitchFamily="34" charset="0"/>
                <a:ea typeface="Courier New" pitchFamily="34" charset="-122"/>
                <a:cs typeface="Courier New" pitchFamily="34" charset="-120"/>
              </a:rPr>
              <a:t>reverted · gas paid</a:t>
            </a:r>
            <a:endParaRPr lang="en-US" sz="1200" dirty="0"/>
          </a:p>
        </p:txBody>
      </p:sp>
      <p:sp>
        <p:nvSpPr>
          <p:cNvPr id="19" name="Text 17"/>
          <p:cNvSpPr txBox="1"/>
          <p:nvPr/>
        </p:nvSpPr>
        <p:spPr>
          <a:xfrm>
            <a:off x="548640" y="4791456"/>
            <a:ext cx="3168396" cy="411480"/>
          </a:xfrm>
          <a:prstGeom prst="rect">
            <a:avLst/>
          </a:prstGeom>
          <a:noFill/>
          <a:ln/>
        </p:spPr>
        <p:txBody>
          <a:bodyPr wrap="square" lIns="0" tIns="0" rIns="0" bIns="0" rtlCol="0" anchor="ctr"/>
          <a:lstStyle/>
          <a:p>
            <a:pPr indent="0" marL="0">
              <a:buNone/>
            </a:pPr>
            <a:r>
              <a:rPr lang="en-US" sz="1500" dirty="0">
                <a:solidFill>
                  <a:srgbClr val="1A1712"/>
                </a:solidFill>
                <a:latin typeface="Georgia" pitchFamily="34" charset="0"/>
                <a:ea typeface="Georgia" pitchFamily="34" charset="-122"/>
                <a:cs typeface="Georgia" pitchFamily="34" charset="-120"/>
              </a:rPr>
              <a:t>tx 4 — same second</a:t>
            </a:r>
            <a:endParaRPr lang="en-US" sz="1500" dirty="0"/>
          </a:p>
        </p:txBody>
      </p:sp>
      <p:sp>
        <p:nvSpPr>
          <p:cNvPr id="20" name="Shape 18"/>
          <p:cNvSpPr/>
          <p:nvPr/>
        </p:nvSpPr>
        <p:spPr>
          <a:xfrm>
            <a:off x="3808476" y="5029200"/>
            <a:ext cx="32004" cy="0"/>
          </a:xfrm>
          <a:prstGeom prst="line">
            <a:avLst/>
          </a:prstGeom>
          <a:noFill/>
          <a:ln w="12700">
            <a:solidFill>
              <a:srgbClr val="71685A"/>
            </a:solidFill>
            <a:prstDash val="sysDot"/>
          </a:ln>
        </p:spPr>
      </p:sp>
      <p:sp>
        <p:nvSpPr>
          <p:cNvPr id="21" name="Text 19"/>
          <p:cNvSpPr txBox="1"/>
          <p:nvPr/>
        </p:nvSpPr>
        <p:spPr>
          <a:xfrm>
            <a:off x="3931920" y="4791456"/>
            <a:ext cx="2377440" cy="411480"/>
          </a:xfrm>
          <a:prstGeom prst="rect">
            <a:avLst/>
          </a:prstGeom>
          <a:noFill/>
          <a:ln/>
        </p:spPr>
        <p:txBody>
          <a:bodyPr wrap="square" lIns="0" tIns="0" rIns="0" bIns="0" rtlCol="0" anchor="ctr"/>
          <a:lstStyle/>
          <a:p>
            <a:pPr algn="r" indent="0" marL="0">
              <a:buNone/>
            </a:pPr>
            <a:r>
              <a:rPr lang="en-US" sz="1200" b="1" dirty="0">
                <a:solidFill>
                  <a:srgbClr val="BF3A1E"/>
                </a:solidFill>
                <a:latin typeface="Courier New" pitchFamily="34" charset="0"/>
                <a:ea typeface="Courier New" pitchFamily="34" charset="-122"/>
                <a:cs typeface="Courier New" pitchFamily="34" charset="-120"/>
              </a:rPr>
              <a:t>reverted · gas paid</a:t>
            </a:r>
            <a:endParaRPr lang="en-US" sz="1200" dirty="0"/>
          </a:p>
        </p:txBody>
      </p:sp>
      <p:sp>
        <p:nvSpPr>
          <p:cNvPr id="22" name="Text 20"/>
          <p:cNvSpPr txBox="1"/>
          <p:nvPr/>
        </p:nvSpPr>
        <p:spPr>
          <a:xfrm>
            <a:off x="6858000" y="2331720"/>
            <a:ext cx="4846320" cy="3108960"/>
          </a:xfrm>
          <a:prstGeom prst="rect">
            <a:avLst/>
          </a:prstGeom>
          <a:noFill/>
          <a:ln/>
        </p:spPr>
        <p:txBody>
          <a:bodyPr wrap="square" lIns="0" tIns="0" rIns="0" bIns="0" rtlCol="0" anchor="ctr"/>
          <a:lstStyle/>
          <a:p>
            <a:pPr indent="0" marL="0">
              <a:lnSpc>
                <a:spcPts val="2200"/>
              </a:lnSpc>
              <a:buNone/>
            </a:pPr>
            <a:r>
              <a:rPr lang="en-US" sz="1800" b="1" dirty="0">
                <a:solidFill>
                  <a:srgbClr val="1A1712"/>
                </a:solidFill>
                <a:latin typeface="Georgia" pitchFamily="34" charset="0"/>
                <a:ea typeface="Georgia" pitchFamily="34" charset="-122"/>
                <a:cs typeface="Georgia" pitchFamily="34" charset="-120"/>
              </a:rPr>
              <a:t>On any other chain we would be writing a moderation server. Here we wrote nothing.
</a:t>
            </a:r>
            <a:pPr indent="0" marL="0">
              <a:lnSpc>
                <a:spcPts val="2200"/>
              </a:lnSpc>
              <a:buNone/>
            </a:pPr>
            <a:r>
              <a:rPr lang="en-US" sz="1600" dirty="0">
                <a:solidFill>
                  <a:srgbClr val="1A1712"/>
                </a:solidFill>
                <a:latin typeface="Georgia" pitchFamily="34" charset="0"/>
                <a:ea typeface="Georgia" pitchFamily="34" charset="-122"/>
                <a:cs typeface="Georgia" pitchFamily="34" charset="-120"/>
              </a:rPr>
              <a:t>The rate-limit is a rule of the chain, not of our backend. A bot farm cannot out-click consensus — and every spam attempt </a:t>
            </a:r>
            <a:pPr indent="0" marL="0">
              <a:lnSpc>
                <a:spcPts val="2200"/>
              </a:lnSpc>
              <a:buNone/>
            </a:pPr>
            <a:r>
              <a:rPr lang="en-US" sz="1600" b="1" dirty="0">
                <a:solidFill>
                  <a:srgbClr val="BF3A1E"/>
                </a:solidFill>
                <a:latin typeface="Georgia" pitchFamily="34" charset="0"/>
                <a:ea typeface="Georgia" pitchFamily="34" charset="-122"/>
                <a:cs typeface="Georgia" pitchFamily="34" charset="-120"/>
              </a:rPr>
              <a:t>burns the spammer’s own gas.</a:t>
            </a:r>
            <a:endParaRPr lang="en-US" sz="1800" dirty="0"/>
          </a:p>
        </p:txBody>
      </p:sp>
      <p:sp>
        <p:nvSpPr>
          <p:cNvPr id="23" name="Shape 21"/>
          <p:cNvSpPr/>
          <p:nvPr/>
        </p:nvSpPr>
        <p:spPr>
          <a:xfrm>
            <a:off x="548640" y="5806440"/>
            <a:ext cx="11091672" cy="0"/>
          </a:xfrm>
          <a:prstGeom prst="line">
            <a:avLst/>
          </a:prstGeom>
          <a:noFill/>
          <a:ln w="12700">
            <a:solidFill>
              <a:srgbClr val="D8CDB8"/>
            </a:solidFill>
            <a:prstDash val="solid"/>
          </a:ln>
        </p:spPr>
      </p:sp>
      <p:sp>
        <p:nvSpPr>
          <p:cNvPr id="24" name="Text 22"/>
          <p:cNvSpPr txBox="1"/>
          <p:nvPr/>
        </p:nvSpPr>
        <p:spPr>
          <a:xfrm>
            <a:off x="548640" y="5943600"/>
            <a:ext cx="11064240" cy="411480"/>
          </a:xfrm>
          <a:prstGeom prst="rect">
            <a:avLst/>
          </a:prstGeom>
          <a:noFill/>
          <a:ln/>
        </p:spPr>
        <p:txBody>
          <a:bodyPr wrap="square" lIns="0" tIns="0" rIns="0" bIns="0" rtlCol="0" anchor="ctr"/>
          <a:lstStyle/>
          <a:p>
            <a:pPr indent="0" marL="0">
              <a:buNone/>
            </a:pPr>
            <a:r>
              <a:rPr lang="en-US" sz="1500" i="1" dirty="0">
                <a:solidFill>
                  <a:srgbClr val="71685A"/>
                </a:solidFill>
                <a:latin typeface="Georgia" pitchFamily="34" charset="0"/>
                <a:ea typeface="Georgia" pitchFamily="34" charset="-122"/>
                <a:cs typeface="Georgia" pitchFamily="34" charset="-120"/>
              </a:rPr>
              <a:t>The queue in our sender exists purely to respect this rule — the viewer never notices it.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48640" y="384048"/>
            <a:ext cx="9601200" cy="457200"/>
          </a:xfrm>
          <a:prstGeom prst="rect">
            <a:avLst/>
          </a:prstGeom>
          <a:noFill/>
          <a:ln/>
        </p:spPr>
        <p:txBody>
          <a:bodyPr wrap="square" lIns="0" tIns="0" rIns="0" bIns="0" rtlCol="0" anchor="ctr"/>
          <a:lstStyle/>
          <a:p>
            <a:pPr indent="0" marL="0">
              <a:buNone/>
            </a:pPr>
            <a:r>
              <a:rPr lang="en-US" sz="1500" b="1" spc="400" kern="0" dirty="0">
                <a:solidFill>
                  <a:srgbClr val="1A1712"/>
                </a:solidFill>
                <a:latin typeface="Courier New" pitchFamily="34" charset="0"/>
                <a:ea typeface="Courier New" pitchFamily="34" charset="-122"/>
                <a:cs typeface="Courier New" pitchFamily="34" charset="-120"/>
              </a:rPr>
              <a:t>IMPOSSIBLE ELSEWHERE · 3 — GAS EATS THE WORD</a:t>
            </a:r>
            <a:endParaRPr lang="en-US" sz="1500" dirty="0"/>
          </a:p>
        </p:txBody>
      </p:sp>
      <p:sp>
        <p:nvSpPr>
          <p:cNvPr id="3" name="Shape 1"/>
          <p:cNvSpPr/>
          <p:nvPr/>
        </p:nvSpPr>
        <p:spPr>
          <a:xfrm>
            <a:off x="7818120" y="630936"/>
            <a:ext cx="3319272" cy="0"/>
          </a:xfrm>
          <a:prstGeom prst="line">
            <a:avLst/>
          </a:prstGeom>
          <a:noFill/>
          <a:ln w="12700">
            <a:solidFill>
              <a:srgbClr val="71685A"/>
            </a:solidFill>
            <a:prstDash val="sysDot"/>
          </a:ln>
        </p:spPr>
      </p:sp>
      <p:sp>
        <p:nvSpPr>
          <p:cNvPr id="4" name="Text 2"/>
          <p:cNvSpPr txBox="1"/>
          <p:nvPr/>
        </p:nvSpPr>
        <p:spPr>
          <a:xfrm>
            <a:off x="11137392" y="384048"/>
            <a:ext cx="502920" cy="457200"/>
          </a:xfrm>
          <a:prstGeom prst="rect">
            <a:avLst/>
          </a:prstGeom>
          <a:noFill/>
          <a:ln/>
        </p:spPr>
        <p:txBody>
          <a:bodyPr wrap="square" lIns="0" tIns="0" rIns="0" bIns="0" rtlCol="0" anchor="ctr"/>
          <a:lstStyle/>
          <a:p>
            <a:pPr algn="r" indent="0" marL="0">
              <a:buNone/>
            </a:pPr>
            <a:r>
              <a:rPr lang="en-US" sz="1500" dirty="0">
                <a:solidFill>
                  <a:srgbClr val="71685A"/>
                </a:solidFill>
                <a:latin typeface="Courier New" pitchFamily="34" charset="0"/>
                <a:ea typeface="Courier New" pitchFamily="34" charset="-122"/>
                <a:cs typeface="Courier New" pitchFamily="34" charset="-120"/>
              </a:rPr>
              <a:t>05</a:t>
            </a:r>
            <a:endParaRPr lang="en-US" sz="1500" dirty="0"/>
          </a:p>
        </p:txBody>
      </p:sp>
      <p:sp>
        <p:nvSpPr>
          <p:cNvPr id="5" name="Text 3"/>
          <p:cNvSpPr txBox="1"/>
          <p:nvPr/>
        </p:nvSpPr>
        <p:spPr>
          <a:xfrm>
            <a:off x="548640" y="1371600"/>
            <a:ext cx="5486400" cy="365760"/>
          </a:xfrm>
          <a:prstGeom prst="rect">
            <a:avLst/>
          </a:prstGeom>
          <a:noFill/>
          <a:ln/>
        </p:spPr>
        <p:txBody>
          <a:bodyPr wrap="square" lIns="0" tIns="0" rIns="0" bIns="0" rtlCol="0" anchor="ctr"/>
          <a:lstStyle/>
          <a:p>
            <a:pPr indent="0" marL="0">
              <a:buNone/>
            </a:pPr>
            <a:r>
              <a:rPr lang="en-US" sz="1200" b="1" spc="200" kern="0" dirty="0">
                <a:solidFill>
                  <a:srgbClr val="71685A"/>
                </a:solidFill>
                <a:latin typeface="Courier New" pitchFamily="34" charset="0"/>
                <a:ea typeface="Courier New" pitchFamily="34" charset="-122"/>
                <a:cs typeface="Courier New" pitchFamily="34" charset="-120"/>
              </a:rPr>
              <a:t>ONE MESSAGE, ITEMIZED</a:t>
            </a:r>
            <a:endParaRPr lang="en-US" sz="1200" dirty="0"/>
          </a:p>
        </p:txBody>
      </p:sp>
      <p:sp>
        <p:nvSpPr>
          <p:cNvPr id="6" name="Text 4"/>
          <p:cNvSpPr txBox="1"/>
          <p:nvPr/>
        </p:nvSpPr>
        <p:spPr>
          <a:xfrm>
            <a:off x="548640" y="1874520"/>
            <a:ext cx="3268980" cy="411480"/>
          </a:xfrm>
          <a:prstGeom prst="rect">
            <a:avLst/>
          </a:prstGeom>
          <a:noFill/>
          <a:ln/>
        </p:spPr>
        <p:txBody>
          <a:bodyPr wrap="square" lIns="0" tIns="0" rIns="0" bIns="0" rtlCol="0" anchor="ctr"/>
          <a:lstStyle/>
          <a:p>
            <a:pPr indent="0" marL="0">
              <a:buNone/>
            </a:pPr>
            <a:r>
              <a:rPr lang="en-US" sz="1700" dirty="0">
                <a:solidFill>
                  <a:srgbClr val="1A1712"/>
                </a:solidFill>
                <a:latin typeface="Georgia" pitchFamily="34" charset="0"/>
                <a:ea typeface="Georgia" pitchFamily="34" charset="-122"/>
                <a:cs typeface="Georgia" pitchFamily="34" charset="-120"/>
              </a:rPr>
              <a:t>word price</a:t>
            </a:r>
            <a:endParaRPr lang="en-US" sz="1700" dirty="0"/>
          </a:p>
        </p:txBody>
      </p:sp>
      <p:sp>
        <p:nvSpPr>
          <p:cNvPr id="7" name="Shape 5"/>
          <p:cNvSpPr/>
          <p:nvPr/>
        </p:nvSpPr>
        <p:spPr>
          <a:xfrm>
            <a:off x="3909060" y="2148840"/>
            <a:ext cx="480060" cy="0"/>
          </a:xfrm>
          <a:prstGeom prst="line">
            <a:avLst/>
          </a:prstGeom>
          <a:noFill/>
          <a:ln w="12700">
            <a:solidFill>
              <a:srgbClr val="71685A"/>
            </a:solidFill>
            <a:prstDash val="sysDot"/>
          </a:ln>
        </p:spPr>
      </p:sp>
      <p:sp>
        <p:nvSpPr>
          <p:cNvPr id="8" name="Text 6"/>
          <p:cNvSpPr txBox="1"/>
          <p:nvPr/>
        </p:nvSpPr>
        <p:spPr>
          <a:xfrm>
            <a:off x="4480560" y="1874520"/>
            <a:ext cx="2011680" cy="411480"/>
          </a:xfrm>
          <a:prstGeom prst="rect">
            <a:avLst/>
          </a:prstGeom>
          <a:noFill/>
          <a:ln/>
        </p:spPr>
        <p:txBody>
          <a:bodyPr wrap="square" lIns="0" tIns="0" rIns="0" bIns="0" rtlCol="0" anchor="ctr"/>
          <a:lstStyle/>
          <a:p>
            <a:pPr algn="r" indent="0" marL="0">
              <a:buNone/>
            </a:pPr>
            <a:r>
              <a:rPr lang="en-US" sz="1500" b="1" dirty="0">
                <a:solidFill>
                  <a:srgbClr val="1A1712"/>
                </a:solidFill>
                <a:latin typeface="Courier New" pitchFamily="34" charset="0"/>
                <a:ea typeface="Courier New" pitchFamily="34" charset="-122"/>
                <a:cs typeface="Courier New" pitchFamily="34" charset="-120"/>
              </a:rPr>
              <a:t>0.050 MON</a:t>
            </a:r>
            <a:endParaRPr lang="en-US" sz="1500" dirty="0"/>
          </a:p>
        </p:txBody>
      </p:sp>
      <p:sp>
        <p:nvSpPr>
          <p:cNvPr id="9" name="Text 7"/>
          <p:cNvSpPr txBox="1"/>
          <p:nvPr/>
        </p:nvSpPr>
        <p:spPr>
          <a:xfrm>
            <a:off x="548640" y="2468880"/>
            <a:ext cx="3749040" cy="411480"/>
          </a:xfrm>
          <a:prstGeom prst="rect">
            <a:avLst/>
          </a:prstGeom>
          <a:noFill/>
          <a:ln/>
        </p:spPr>
        <p:txBody>
          <a:bodyPr wrap="square" lIns="0" tIns="0" rIns="0" bIns="0" rtlCol="0" anchor="ctr"/>
          <a:lstStyle/>
          <a:p>
            <a:pPr indent="0" marL="0">
              <a:buNone/>
            </a:pPr>
            <a:r>
              <a:rPr lang="en-US" sz="1700" dirty="0">
                <a:solidFill>
                  <a:srgbClr val="1A1712"/>
                </a:solidFill>
                <a:latin typeface="Georgia" pitchFamily="34" charset="0"/>
                <a:ea typeface="Georgia" pitchFamily="34" charset="-122"/>
                <a:cs typeface="Georgia" pitchFamily="34" charset="-120"/>
              </a:rPr>
              <a:t>network gas (118k · on the limit)</a:t>
            </a:r>
            <a:endParaRPr lang="en-US" sz="1700" dirty="0"/>
          </a:p>
        </p:txBody>
      </p:sp>
      <p:sp>
        <p:nvSpPr>
          <p:cNvPr id="10" name="Shape 8"/>
          <p:cNvSpPr/>
          <p:nvPr/>
        </p:nvSpPr>
        <p:spPr>
          <a:xfrm>
            <a:off x="4389120" y="2743200"/>
            <a:ext cx="0" cy="0"/>
          </a:xfrm>
          <a:prstGeom prst="line">
            <a:avLst/>
          </a:prstGeom>
          <a:noFill/>
          <a:ln w="12700">
            <a:solidFill>
              <a:srgbClr val="71685A"/>
            </a:solidFill>
            <a:prstDash val="sysDot"/>
          </a:ln>
        </p:spPr>
      </p:sp>
      <p:sp>
        <p:nvSpPr>
          <p:cNvPr id="11" name="Text 9"/>
          <p:cNvSpPr txBox="1"/>
          <p:nvPr/>
        </p:nvSpPr>
        <p:spPr>
          <a:xfrm>
            <a:off x="4480560" y="2468880"/>
            <a:ext cx="2011680" cy="411480"/>
          </a:xfrm>
          <a:prstGeom prst="rect">
            <a:avLst/>
          </a:prstGeom>
          <a:noFill/>
          <a:ln/>
        </p:spPr>
        <p:txBody>
          <a:bodyPr wrap="square" lIns="0" tIns="0" rIns="0" bIns="0" rtlCol="0" anchor="ctr"/>
          <a:lstStyle/>
          <a:p>
            <a:pPr algn="r" indent="0" marL="0">
              <a:buNone/>
            </a:pPr>
            <a:r>
              <a:rPr lang="en-US" sz="1500" b="1" dirty="0">
                <a:solidFill>
                  <a:srgbClr val="71685A"/>
                </a:solidFill>
                <a:latin typeface="Courier New" pitchFamily="34" charset="0"/>
                <a:ea typeface="Courier New" pitchFamily="34" charset="-122"/>
                <a:cs typeface="Courier New" pitchFamily="34" charset="-120"/>
              </a:rPr>
              <a:t>0.013 MON</a:t>
            </a:r>
            <a:endParaRPr lang="en-US" sz="1500" dirty="0"/>
          </a:p>
        </p:txBody>
      </p:sp>
      <p:sp>
        <p:nvSpPr>
          <p:cNvPr id="12" name="Shape 10"/>
          <p:cNvSpPr/>
          <p:nvPr/>
        </p:nvSpPr>
        <p:spPr>
          <a:xfrm>
            <a:off x="548640" y="3063240"/>
            <a:ext cx="5943600" cy="0"/>
          </a:xfrm>
          <a:prstGeom prst="line">
            <a:avLst/>
          </a:prstGeom>
          <a:noFill/>
          <a:ln w="15240">
            <a:solidFill>
              <a:srgbClr val="1A1712"/>
            </a:solidFill>
            <a:prstDash val="solid"/>
          </a:ln>
        </p:spPr>
      </p:sp>
      <p:sp>
        <p:nvSpPr>
          <p:cNvPr id="13" name="Text 11"/>
          <p:cNvSpPr txBox="1"/>
          <p:nvPr/>
        </p:nvSpPr>
        <p:spPr>
          <a:xfrm>
            <a:off x="548640" y="3200400"/>
            <a:ext cx="3268980" cy="411480"/>
          </a:xfrm>
          <a:prstGeom prst="rect">
            <a:avLst/>
          </a:prstGeom>
          <a:noFill/>
          <a:ln/>
        </p:spPr>
        <p:txBody>
          <a:bodyPr wrap="square" lIns="0" tIns="0" rIns="0" bIns="0" rtlCol="0" anchor="ctr"/>
          <a:lstStyle/>
          <a:p>
            <a:pPr indent="0" marL="0">
              <a:buNone/>
            </a:pPr>
            <a:r>
              <a:rPr lang="en-US" sz="1700" b="1" dirty="0">
                <a:solidFill>
                  <a:srgbClr val="1A1712"/>
                </a:solidFill>
                <a:latin typeface="Georgia" pitchFamily="34" charset="0"/>
                <a:ea typeface="Georgia" pitchFamily="34" charset="-122"/>
                <a:cs typeface="Georgia" pitchFamily="34" charset="-120"/>
              </a:rPr>
              <a:t>viewer pays</a:t>
            </a:r>
            <a:endParaRPr lang="en-US" sz="1700" dirty="0"/>
          </a:p>
        </p:txBody>
      </p:sp>
      <p:sp>
        <p:nvSpPr>
          <p:cNvPr id="14" name="Shape 12"/>
          <p:cNvSpPr/>
          <p:nvPr/>
        </p:nvSpPr>
        <p:spPr>
          <a:xfrm>
            <a:off x="3909060" y="3474720"/>
            <a:ext cx="480060" cy="0"/>
          </a:xfrm>
          <a:prstGeom prst="line">
            <a:avLst/>
          </a:prstGeom>
          <a:noFill/>
          <a:ln w="12700">
            <a:solidFill>
              <a:srgbClr val="71685A"/>
            </a:solidFill>
            <a:prstDash val="sysDot"/>
          </a:ln>
        </p:spPr>
      </p:sp>
      <p:sp>
        <p:nvSpPr>
          <p:cNvPr id="15" name="Text 13"/>
          <p:cNvSpPr txBox="1"/>
          <p:nvPr/>
        </p:nvSpPr>
        <p:spPr>
          <a:xfrm>
            <a:off x="4480560" y="3200400"/>
            <a:ext cx="2011680" cy="411480"/>
          </a:xfrm>
          <a:prstGeom prst="rect">
            <a:avLst/>
          </a:prstGeom>
          <a:noFill/>
          <a:ln/>
        </p:spPr>
        <p:txBody>
          <a:bodyPr wrap="square" lIns="0" tIns="0" rIns="0" bIns="0" rtlCol="0" anchor="ctr"/>
          <a:lstStyle/>
          <a:p>
            <a:pPr algn="r" indent="0" marL="0">
              <a:buNone/>
            </a:pPr>
            <a:r>
              <a:rPr lang="en-US" sz="1500" b="1" dirty="0">
                <a:solidFill>
                  <a:srgbClr val="1A1712"/>
                </a:solidFill>
                <a:latin typeface="Courier New" pitchFamily="34" charset="0"/>
                <a:ea typeface="Courier New" pitchFamily="34" charset="-122"/>
                <a:cs typeface="Courier New" pitchFamily="34" charset="-120"/>
              </a:rPr>
              <a:t>0.063 MON</a:t>
            </a:r>
            <a:endParaRPr lang="en-US" sz="1500" dirty="0"/>
          </a:p>
        </p:txBody>
      </p:sp>
      <p:sp>
        <p:nvSpPr>
          <p:cNvPr id="16" name="Text 14"/>
          <p:cNvSpPr txBox="1"/>
          <p:nvPr/>
        </p:nvSpPr>
        <p:spPr>
          <a:xfrm>
            <a:off x="548640" y="3794760"/>
            <a:ext cx="3749040" cy="411480"/>
          </a:xfrm>
          <a:prstGeom prst="rect">
            <a:avLst/>
          </a:prstGeom>
          <a:noFill/>
          <a:ln/>
        </p:spPr>
        <p:txBody>
          <a:bodyPr wrap="square" lIns="0" tIns="0" rIns="0" bIns="0" rtlCol="0" anchor="ctr"/>
          <a:lstStyle/>
          <a:p>
            <a:pPr indent="0" marL="0">
              <a:buNone/>
            </a:pPr>
            <a:r>
              <a:rPr lang="en-US" sz="1700" b="1" dirty="0">
                <a:solidFill>
                  <a:srgbClr val="1A1712"/>
                </a:solidFill>
                <a:latin typeface="Georgia" pitchFamily="34" charset="0"/>
                <a:ea typeface="Georgia" pitchFamily="34" charset="-122"/>
                <a:cs typeface="Georgia" pitchFamily="34" charset="-120"/>
              </a:rPr>
              <a:t>streamer receives — instantly</a:t>
            </a:r>
            <a:endParaRPr lang="en-US" sz="1700" dirty="0"/>
          </a:p>
        </p:txBody>
      </p:sp>
      <p:sp>
        <p:nvSpPr>
          <p:cNvPr id="17" name="Shape 15"/>
          <p:cNvSpPr/>
          <p:nvPr/>
        </p:nvSpPr>
        <p:spPr>
          <a:xfrm>
            <a:off x="4389120" y="4069080"/>
            <a:ext cx="0" cy="0"/>
          </a:xfrm>
          <a:prstGeom prst="line">
            <a:avLst/>
          </a:prstGeom>
          <a:noFill/>
          <a:ln w="12700">
            <a:solidFill>
              <a:srgbClr val="71685A"/>
            </a:solidFill>
            <a:prstDash val="sysDot"/>
          </a:ln>
        </p:spPr>
      </p:sp>
      <p:sp>
        <p:nvSpPr>
          <p:cNvPr id="18" name="Text 16"/>
          <p:cNvSpPr txBox="1"/>
          <p:nvPr/>
        </p:nvSpPr>
        <p:spPr>
          <a:xfrm>
            <a:off x="4480560" y="3794760"/>
            <a:ext cx="2011680" cy="411480"/>
          </a:xfrm>
          <a:prstGeom prst="rect">
            <a:avLst/>
          </a:prstGeom>
          <a:noFill/>
          <a:ln/>
        </p:spPr>
        <p:txBody>
          <a:bodyPr wrap="square" lIns="0" tIns="0" rIns="0" bIns="0" rtlCol="0" anchor="ctr"/>
          <a:lstStyle/>
          <a:p>
            <a:pPr algn="r" indent="0" marL="0">
              <a:buNone/>
            </a:pPr>
            <a:r>
              <a:rPr lang="en-US" sz="1500" b="1" dirty="0">
                <a:solidFill>
                  <a:srgbClr val="1C6B4A"/>
                </a:solidFill>
                <a:latin typeface="Courier New" pitchFamily="34" charset="0"/>
                <a:ea typeface="Courier New" pitchFamily="34" charset="-122"/>
                <a:cs typeface="Courier New" pitchFamily="34" charset="-120"/>
              </a:rPr>
              <a:t>0.050 MON</a:t>
            </a:r>
            <a:endParaRPr lang="en-US" sz="1500" dirty="0"/>
          </a:p>
        </p:txBody>
      </p:sp>
      <p:sp>
        <p:nvSpPr>
          <p:cNvPr id="19" name="Text 17"/>
          <p:cNvSpPr txBox="1"/>
          <p:nvPr/>
        </p:nvSpPr>
        <p:spPr>
          <a:xfrm>
            <a:off x="548640" y="4663440"/>
            <a:ext cx="5943600" cy="822960"/>
          </a:xfrm>
          <a:prstGeom prst="rect">
            <a:avLst/>
          </a:prstGeom>
          <a:noFill/>
          <a:ln/>
        </p:spPr>
        <p:txBody>
          <a:bodyPr wrap="square" lIns="0" tIns="0" rIns="0" bIns="0" rtlCol="0" anchor="ctr"/>
          <a:lstStyle/>
          <a:p>
            <a:pPr indent="0" marL="0">
              <a:lnSpc>
                <a:spcPts val="2200"/>
              </a:lnSpc>
              <a:buNone/>
            </a:pPr>
            <a:r>
              <a:rPr lang="en-US" sz="1600" i="1" dirty="0">
                <a:solidFill>
                  <a:srgbClr val="71685A"/>
                </a:solidFill>
                <a:latin typeface="Georgia" pitchFamily="34" charset="0"/>
                <a:ea typeface="Georgia" pitchFamily="34" charset="-122"/>
                <a:cs typeface="Georgia" pitchFamily="34" charset="-120"/>
              </a:rPr>
              <a:t>The rail costs a fifth of the word. That is what makes per-word pricing a business, not a stunt.</a:t>
            </a:r>
            <a:endParaRPr lang="en-US" sz="1600" dirty="0"/>
          </a:p>
        </p:txBody>
      </p:sp>
      <p:sp>
        <p:nvSpPr>
          <p:cNvPr id="20" name="Text 18"/>
          <p:cNvSpPr txBox="1"/>
          <p:nvPr/>
        </p:nvSpPr>
        <p:spPr>
          <a:xfrm>
            <a:off x="6858000" y="1417320"/>
            <a:ext cx="4846320" cy="3931920"/>
          </a:xfrm>
          <a:prstGeom prst="rect">
            <a:avLst/>
          </a:prstGeom>
          <a:noFill/>
          <a:ln/>
        </p:spPr>
        <p:txBody>
          <a:bodyPr wrap="square" lIns="0" tIns="0" rIns="0" bIns="0" rtlCol="0" anchor="ctr"/>
          <a:lstStyle/>
          <a:p>
            <a:pPr indent="0" marL="0">
              <a:lnSpc>
                <a:spcPts val="2200"/>
              </a:lnSpc>
              <a:buNone/>
            </a:pPr>
            <a:r>
              <a:rPr lang="en-US" sz="1800" b="1" dirty="0">
                <a:solidFill>
                  <a:srgbClr val="1A1712"/>
                </a:solidFill>
                <a:latin typeface="Georgia" pitchFamily="34" charset="0"/>
                <a:ea typeface="Georgia" pitchFamily="34" charset="-122"/>
                <a:cs typeface="Georgia" pitchFamily="34" charset="-120"/>
              </a:rPr>
              <a:t>Run the same receipt elsewhere:
</a:t>
            </a:r>
            <a:pPr indent="0" marL="0">
              <a:lnSpc>
                <a:spcPts val="2200"/>
              </a:lnSpc>
              <a:buNone/>
            </a:pPr>
            <a:r>
              <a:rPr lang="en-US" sz="1550" dirty="0">
                <a:solidFill>
                  <a:srgbClr val="1A1712"/>
                </a:solidFill>
                <a:latin typeface="Georgia" pitchFamily="34" charset="0"/>
                <a:ea typeface="Georgia" pitchFamily="34" charset="-122"/>
                <a:cs typeface="Georgia" pitchFamily="34" charset="-120"/>
              </a:rPr>
              <a:t>Ethereum L1: the gas line alone is $1–5 — a word must cost $10+ to keep the split sane. That is Superchat with extra steps, not chat.
</a:t>
            </a:r>
            <a:pPr indent="0" marL="0">
              <a:lnSpc>
                <a:spcPts val="2200"/>
              </a:lnSpc>
              <a:buNone/>
            </a:pPr>
            <a:r>
              <a:rPr lang="en-US" sz="1550" dirty="0">
                <a:solidFill>
                  <a:srgbClr val="1A1712"/>
                </a:solidFill>
                <a:latin typeface="Georgia" pitchFamily="34" charset="0"/>
                <a:ea typeface="Georgia" pitchFamily="34" charset="-122"/>
                <a:cs typeface="Georgia" pitchFamily="34" charset="-120"/>
              </a:rPr>
              <a:t>L2s: cheaper, but fees spike exactly when chat gets busy. Here fees stay flat under load, and gas is charged on the limit — so we ship honest 7.5% estimates instead of ×2 padding that would double the viewer’s cost.</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FE6"/>
        </a:solidFill>
      </p:bgPr>
    </p:bg>
    <p:spTree>
      <p:nvGrpSpPr>
        <p:cNvPr id="1" name=""/>
        <p:cNvGrpSpPr/>
        <p:nvPr/>
      </p:nvGrpSpPr>
      <p:grpSpPr>
        <a:xfrm>
          <a:off x="0" y="0"/>
          <a:ext cx="0" cy="0"/>
          <a:chOff x="0" y="0"/>
          <a:chExt cx="0" cy="0"/>
        </a:xfrm>
      </p:grpSpPr>
      <p:sp>
        <p:nvSpPr>
          <p:cNvPr id="2" name="Text 0"/>
          <p:cNvSpPr txBox="1"/>
          <p:nvPr/>
        </p:nvSpPr>
        <p:spPr>
          <a:xfrm>
            <a:off x="548640" y="384048"/>
            <a:ext cx="9601200" cy="457200"/>
          </a:xfrm>
          <a:prstGeom prst="rect">
            <a:avLst/>
          </a:prstGeom>
          <a:noFill/>
          <a:ln/>
        </p:spPr>
        <p:txBody>
          <a:bodyPr wrap="square" lIns="0" tIns="0" rIns="0" bIns="0" rtlCol="0" anchor="ctr"/>
          <a:lstStyle/>
          <a:p>
            <a:pPr indent="0" marL="0">
              <a:buNone/>
            </a:pPr>
            <a:r>
              <a:rPr lang="en-US" sz="1500" b="1" spc="400" kern="0" dirty="0">
                <a:solidFill>
                  <a:srgbClr val="1A1712"/>
                </a:solidFill>
                <a:latin typeface="Courier New" pitchFamily="34" charset="0"/>
                <a:ea typeface="Courier New" pitchFamily="34" charset="-122"/>
                <a:cs typeface="Courier New" pitchFamily="34" charset="-120"/>
              </a:rPr>
              <a:t>IMPOSSIBLE ELSEWHERE · 4 — CHAT LOOKS LIKE A DDOS</a:t>
            </a:r>
            <a:endParaRPr lang="en-US" sz="1500" dirty="0"/>
          </a:p>
        </p:txBody>
      </p:sp>
      <p:sp>
        <p:nvSpPr>
          <p:cNvPr id="3" name="Shape 1"/>
          <p:cNvSpPr/>
          <p:nvPr/>
        </p:nvSpPr>
        <p:spPr>
          <a:xfrm>
            <a:off x="8618220" y="630936"/>
            <a:ext cx="2519172" cy="0"/>
          </a:xfrm>
          <a:prstGeom prst="line">
            <a:avLst/>
          </a:prstGeom>
          <a:noFill/>
          <a:ln w="12700">
            <a:solidFill>
              <a:srgbClr val="71685A"/>
            </a:solidFill>
            <a:prstDash val="sysDot"/>
          </a:ln>
        </p:spPr>
      </p:sp>
      <p:sp>
        <p:nvSpPr>
          <p:cNvPr id="4" name="Text 2"/>
          <p:cNvSpPr txBox="1"/>
          <p:nvPr/>
        </p:nvSpPr>
        <p:spPr>
          <a:xfrm>
            <a:off x="11137392" y="384048"/>
            <a:ext cx="502920" cy="457200"/>
          </a:xfrm>
          <a:prstGeom prst="rect">
            <a:avLst/>
          </a:prstGeom>
          <a:noFill/>
          <a:ln/>
        </p:spPr>
        <p:txBody>
          <a:bodyPr wrap="square" lIns="0" tIns="0" rIns="0" bIns="0" rtlCol="0" anchor="ctr"/>
          <a:lstStyle/>
          <a:p>
            <a:pPr algn="r" indent="0" marL="0">
              <a:buNone/>
            </a:pPr>
            <a:r>
              <a:rPr lang="en-US" sz="1500" dirty="0">
                <a:solidFill>
                  <a:srgbClr val="71685A"/>
                </a:solidFill>
                <a:latin typeface="Courier New" pitchFamily="34" charset="0"/>
                <a:ea typeface="Courier New" pitchFamily="34" charset="-122"/>
                <a:cs typeface="Courier New" pitchFamily="34" charset="-120"/>
              </a:rPr>
              <a:t>06</a:t>
            </a:r>
            <a:endParaRPr lang="en-US" sz="1500" dirty="0"/>
          </a:p>
        </p:txBody>
      </p:sp>
      <p:sp>
        <p:nvSpPr>
          <p:cNvPr id="5" name="Text 3"/>
          <p:cNvSpPr txBox="1"/>
          <p:nvPr/>
        </p:nvSpPr>
        <p:spPr>
          <a:xfrm>
            <a:off x="548640" y="1417320"/>
            <a:ext cx="2651760" cy="457200"/>
          </a:xfrm>
          <a:prstGeom prst="rect">
            <a:avLst/>
          </a:prstGeom>
          <a:noFill/>
          <a:ln/>
        </p:spPr>
        <p:txBody>
          <a:bodyPr wrap="square" lIns="0" tIns="0" rIns="0" bIns="0" rtlCol="0" anchor="ctr"/>
          <a:lstStyle/>
          <a:p>
            <a:pPr indent="0" marL="0">
              <a:buNone/>
            </a:pPr>
            <a:r>
              <a:rPr lang="en-US" sz="1500" b="1" dirty="0">
                <a:solidFill>
                  <a:srgbClr val="BF3A1E"/>
                </a:solidFill>
                <a:latin typeface="Courier New" pitchFamily="34" charset="0"/>
                <a:ea typeface="Courier New" pitchFamily="34" charset="-122"/>
                <a:cs typeface="Courier New" pitchFamily="34" charset="-120"/>
              </a:rPr>
              <a:t>no backend</a:t>
            </a:r>
            <a:endParaRPr lang="en-US" sz="1500" dirty="0"/>
          </a:p>
        </p:txBody>
      </p:sp>
      <p:sp>
        <p:nvSpPr>
          <p:cNvPr id="6" name="Text 4"/>
          <p:cNvSpPr txBox="1"/>
          <p:nvPr/>
        </p:nvSpPr>
        <p:spPr>
          <a:xfrm>
            <a:off x="3291840" y="1435608"/>
            <a:ext cx="4754880" cy="914400"/>
          </a:xfrm>
          <a:prstGeom prst="rect">
            <a:avLst/>
          </a:prstGeom>
          <a:noFill/>
          <a:ln/>
        </p:spPr>
        <p:txBody>
          <a:bodyPr wrap="square" lIns="0" tIns="0" rIns="0" bIns="0" rtlCol="0" anchor="ctr"/>
          <a:lstStyle/>
          <a:p>
            <a:pPr indent="0" marL="0">
              <a:lnSpc>
                <a:spcPts val="2000"/>
              </a:lnSpc>
              <a:buNone/>
            </a:pPr>
            <a:r>
              <a:rPr lang="en-US" sz="1500" dirty="0">
                <a:solidFill>
                  <a:srgbClr val="1A1712"/>
                </a:solidFill>
                <a:latin typeface="Georgia" pitchFamily="34" charset="0"/>
                <a:ea typeface="Georgia" pitchFamily="34" charset="-122"/>
                <a:cs typeface="Georgia" pitchFamily="34" charset="-120"/>
              </a:rPr>
              <a:t>the contract is the server — 67 lines, verified on Monadscan</a:t>
            </a:r>
            <a:endParaRPr lang="en-US" sz="1500" dirty="0"/>
          </a:p>
        </p:txBody>
      </p:sp>
      <p:sp>
        <p:nvSpPr>
          <p:cNvPr id="7" name="Text 5"/>
          <p:cNvSpPr txBox="1"/>
          <p:nvPr/>
        </p:nvSpPr>
        <p:spPr>
          <a:xfrm>
            <a:off x="548640" y="2468880"/>
            <a:ext cx="2651760" cy="457200"/>
          </a:xfrm>
          <a:prstGeom prst="rect">
            <a:avLst/>
          </a:prstGeom>
          <a:noFill/>
          <a:ln/>
        </p:spPr>
        <p:txBody>
          <a:bodyPr wrap="square" lIns="0" tIns="0" rIns="0" bIns="0" rtlCol="0" anchor="ctr"/>
          <a:lstStyle/>
          <a:p>
            <a:pPr indent="0" marL="0">
              <a:buNone/>
            </a:pPr>
            <a:r>
              <a:rPr lang="en-US" sz="1500" b="1" dirty="0">
                <a:solidFill>
                  <a:srgbClr val="BF3A1E"/>
                </a:solidFill>
                <a:latin typeface="Courier New" pitchFamily="34" charset="0"/>
                <a:ea typeface="Courier New" pitchFamily="34" charset="-122"/>
                <a:cs typeface="Courier New" pitchFamily="34" charset="-120"/>
              </a:rPr>
              <a:t>no database</a:t>
            </a:r>
            <a:endParaRPr lang="en-US" sz="1500" dirty="0"/>
          </a:p>
        </p:txBody>
      </p:sp>
      <p:sp>
        <p:nvSpPr>
          <p:cNvPr id="8" name="Text 6"/>
          <p:cNvSpPr txBox="1"/>
          <p:nvPr/>
        </p:nvSpPr>
        <p:spPr>
          <a:xfrm>
            <a:off x="3291840" y="2487168"/>
            <a:ext cx="4754880" cy="914400"/>
          </a:xfrm>
          <a:prstGeom prst="rect">
            <a:avLst/>
          </a:prstGeom>
          <a:noFill/>
          <a:ln/>
        </p:spPr>
        <p:txBody>
          <a:bodyPr wrap="square" lIns="0" tIns="0" rIns="0" bIns="0" rtlCol="0" anchor="ctr"/>
          <a:lstStyle/>
          <a:p>
            <a:pPr indent="0" marL="0">
              <a:lnSpc>
                <a:spcPts val="2000"/>
              </a:lnSpc>
              <a:buNone/>
            </a:pPr>
            <a:r>
              <a:rPr lang="en-US" sz="1500" dirty="0">
                <a:solidFill>
                  <a:srgbClr val="1A1712"/>
                </a:solidFill>
                <a:latin typeface="Georgia" pitchFamily="34" charset="0"/>
                <a:ea typeface="Georgia" pitchFamily="34" charset="-122"/>
                <a:cs typeface="Georgia" pitchFamily="34" charset="-120"/>
              </a:rPr>
              <a:t>messages live in events; history = eth_getLogs over 100-block windows</a:t>
            </a:r>
            <a:endParaRPr lang="en-US" sz="1500" dirty="0"/>
          </a:p>
        </p:txBody>
      </p:sp>
      <p:sp>
        <p:nvSpPr>
          <p:cNvPr id="9" name="Text 7"/>
          <p:cNvSpPr txBox="1"/>
          <p:nvPr/>
        </p:nvSpPr>
        <p:spPr>
          <a:xfrm>
            <a:off x="548640" y="3520440"/>
            <a:ext cx="2651760" cy="457200"/>
          </a:xfrm>
          <a:prstGeom prst="rect">
            <a:avLst/>
          </a:prstGeom>
          <a:noFill/>
          <a:ln/>
        </p:spPr>
        <p:txBody>
          <a:bodyPr wrap="square" lIns="0" tIns="0" rIns="0" bIns="0" rtlCol="0" anchor="ctr"/>
          <a:lstStyle/>
          <a:p>
            <a:pPr indent="0" marL="0">
              <a:buNone/>
            </a:pPr>
            <a:r>
              <a:rPr lang="en-US" sz="1500" b="1" dirty="0">
                <a:solidFill>
                  <a:srgbClr val="BF3A1E"/>
                </a:solidFill>
                <a:latin typeface="Courier New" pitchFamily="34" charset="0"/>
                <a:ea typeface="Courier New" pitchFamily="34" charset="-122"/>
                <a:cs typeface="Courier New" pitchFamily="34" charset="-120"/>
              </a:rPr>
              <a:t>no indexer</a:t>
            </a:r>
            <a:endParaRPr lang="en-US" sz="1500" dirty="0"/>
          </a:p>
        </p:txBody>
      </p:sp>
      <p:sp>
        <p:nvSpPr>
          <p:cNvPr id="10" name="Text 8"/>
          <p:cNvSpPr txBox="1"/>
          <p:nvPr/>
        </p:nvSpPr>
        <p:spPr>
          <a:xfrm>
            <a:off x="3291840" y="3538728"/>
            <a:ext cx="4754880" cy="914400"/>
          </a:xfrm>
          <a:prstGeom prst="rect">
            <a:avLst/>
          </a:prstGeom>
          <a:noFill/>
          <a:ln/>
        </p:spPr>
        <p:txBody>
          <a:bodyPr wrap="square" lIns="0" tIns="0" rIns="0" bIns="0" rtlCol="0" anchor="ctr"/>
          <a:lstStyle/>
          <a:p>
            <a:pPr indent="0" marL="0">
              <a:lnSpc>
                <a:spcPts val="2000"/>
              </a:lnSpc>
              <a:buNone/>
            </a:pPr>
            <a:r>
              <a:rPr lang="en-US" sz="1500" dirty="0">
                <a:solidFill>
                  <a:srgbClr val="1A1712"/>
                </a:solidFill>
                <a:latin typeface="Georgia" pitchFamily="34" charset="0"/>
                <a:ea typeface="Georgia" pitchFamily="34" charset="-122"/>
                <a:cs typeface="Georgia" pitchFamily="34" charset="-120"/>
              </a:rPr>
              <a:t>live feed = WebSocket subscription straight from a node</a:t>
            </a:r>
            <a:endParaRPr lang="en-US" sz="1500" dirty="0"/>
          </a:p>
        </p:txBody>
      </p:sp>
      <p:sp>
        <p:nvSpPr>
          <p:cNvPr id="11" name="Text 9"/>
          <p:cNvSpPr txBox="1"/>
          <p:nvPr/>
        </p:nvSpPr>
        <p:spPr>
          <a:xfrm>
            <a:off x="548640" y="4572000"/>
            <a:ext cx="2651760" cy="457200"/>
          </a:xfrm>
          <a:prstGeom prst="rect">
            <a:avLst/>
          </a:prstGeom>
          <a:noFill/>
          <a:ln/>
        </p:spPr>
        <p:txBody>
          <a:bodyPr wrap="square" lIns="0" tIns="0" rIns="0" bIns="0" rtlCol="0" anchor="ctr"/>
          <a:lstStyle/>
          <a:p>
            <a:pPr indent="0" marL="0">
              <a:buNone/>
            </a:pPr>
            <a:r>
              <a:rPr lang="en-US" sz="1500" b="1" dirty="0">
                <a:solidFill>
                  <a:srgbClr val="BF3A1E"/>
                </a:solidFill>
                <a:latin typeface="Courier New" pitchFamily="34" charset="0"/>
                <a:ea typeface="Courier New" pitchFamily="34" charset="-122"/>
                <a:cs typeface="Courier New" pitchFamily="34" charset="-120"/>
              </a:rPr>
              <a:t>no ops</a:t>
            </a:r>
            <a:endParaRPr lang="en-US" sz="1500" dirty="0"/>
          </a:p>
        </p:txBody>
      </p:sp>
      <p:sp>
        <p:nvSpPr>
          <p:cNvPr id="12" name="Text 10"/>
          <p:cNvSpPr txBox="1"/>
          <p:nvPr/>
        </p:nvSpPr>
        <p:spPr>
          <a:xfrm>
            <a:off x="3291840" y="4590288"/>
            <a:ext cx="4754880" cy="914400"/>
          </a:xfrm>
          <a:prstGeom prst="rect">
            <a:avLst/>
          </a:prstGeom>
          <a:noFill/>
          <a:ln/>
        </p:spPr>
        <p:txBody>
          <a:bodyPr wrap="square" lIns="0" tIns="0" rIns="0" bIns="0" rtlCol="0" anchor="ctr"/>
          <a:lstStyle/>
          <a:p>
            <a:pPr indent="0" marL="0">
              <a:lnSpc>
                <a:spcPts val="2000"/>
              </a:lnSpc>
              <a:buNone/>
            </a:pPr>
            <a:r>
              <a:rPr lang="en-US" sz="1500" dirty="0">
                <a:solidFill>
                  <a:srgbClr val="1A1712"/>
                </a:solidFill>
                <a:latin typeface="Georgia" pitchFamily="34" charset="0"/>
                <a:ea typeface="Georgia" pitchFamily="34" charset="-122"/>
                <a:cs typeface="Georgia" pitchFamily="34" charset="-120"/>
              </a:rPr>
              <a:t>static frontend + 4 public RPCs with automatic failover</a:t>
            </a:r>
            <a:endParaRPr lang="en-US" sz="1500" dirty="0"/>
          </a:p>
        </p:txBody>
      </p:sp>
      <p:sp>
        <p:nvSpPr>
          <p:cNvPr id="13" name="Shape 11"/>
          <p:cNvSpPr/>
          <p:nvPr/>
        </p:nvSpPr>
        <p:spPr>
          <a:xfrm>
            <a:off x="8412480" y="1417320"/>
            <a:ext cx="0" cy="4114800"/>
          </a:xfrm>
          <a:prstGeom prst="line">
            <a:avLst/>
          </a:prstGeom>
          <a:noFill/>
          <a:ln w="12700">
            <a:solidFill>
              <a:srgbClr val="D8CDB8"/>
            </a:solidFill>
            <a:prstDash val="solid"/>
          </a:ln>
        </p:spPr>
      </p:sp>
      <p:sp>
        <p:nvSpPr>
          <p:cNvPr id="14" name="Text 12"/>
          <p:cNvSpPr txBox="1"/>
          <p:nvPr/>
        </p:nvSpPr>
        <p:spPr>
          <a:xfrm>
            <a:off x="8732520" y="1554480"/>
            <a:ext cx="3017520" cy="1097280"/>
          </a:xfrm>
          <a:prstGeom prst="rect">
            <a:avLst/>
          </a:prstGeom>
          <a:noFill/>
          <a:ln/>
        </p:spPr>
        <p:txBody>
          <a:bodyPr wrap="square" lIns="0" tIns="0" rIns="0" bIns="0" rtlCol="0" anchor="ctr"/>
          <a:lstStyle/>
          <a:p>
            <a:pPr indent="0" marL="0">
              <a:buNone/>
            </a:pPr>
            <a:r>
              <a:rPr lang="en-US" sz="6400" dirty="0">
                <a:solidFill>
                  <a:srgbClr val="1A1712"/>
                </a:solidFill>
                <a:latin typeface="Alsina" pitchFamily="34" charset="0"/>
                <a:ea typeface="Alsina" pitchFamily="34" charset="-122"/>
                <a:cs typeface="Alsina" pitchFamily="34" charset="-120"/>
              </a:rPr>
              <a:t>10k</a:t>
            </a:r>
            <a:endParaRPr lang="en-US" sz="6400" dirty="0"/>
          </a:p>
        </p:txBody>
      </p:sp>
      <p:sp>
        <p:nvSpPr>
          <p:cNvPr id="15" name="Text 13"/>
          <p:cNvSpPr txBox="1"/>
          <p:nvPr/>
        </p:nvSpPr>
        <p:spPr>
          <a:xfrm>
            <a:off x="8732520" y="2697480"/>
            <a:ext cx="2926080" cy="1554480"/>
          </a:xfrm>
          <a:prstGeom prst="rect">
            <a:avLst/>
          </a:prstGeom>
          <a:noFill/>
          <a:ln/>
        </p:spPr>
        <p:txBody>
          <a:bodyPr wrap="square" lIns="0" tIns="0" rIns="0" bIns="0" rtlCol="0" anchor="ctr"/>
          <a:lstStyle/>
          <a:p>
            <a:pPr indent="0" marL="0">
              <a:lnSpc>
                <a:spcPts val="1800"/>
              </a:lnSpc>
              <a:buNone/>
            </a:pPr>
            <a:r>
              <a:rPr lang="en-US" sz="1350" dirty="0">
                <a:solidFill>
                  <a:srgbClr val="71685A"/>
                </a:solidFill>
                <a:latin typeface="Georgia" pitchFamily="34" charset="0"/>
                <a:ea typeface="Georgia" pitchFamily="34" charset="-122"/>
                <a:cs typeface="Georgia" pitchFamily="34" charset="-120"/>
              </a:rPr>
              <a:t>TPS-class throughput: a busy stream — thousands of txs a minute — reads as an attack on most chains. Here it is normal load.</a:t>
            </a:r>
            <a:endParaRPr lang="en-US" sz="1350" dirty="0"/>
          </a:p>
        </p:txBody>
      </p:sp>
      <p:sp>
        <p:nvSpPr>
          <p:cNvPr id="16" name="Text 14"/>
          <p:cNvSpPr txBox="1"/>
          <p:nvPr/>
        </p:nvSpPr>
        <p:spPr>
          <a:xfrm>
            <a:off x="8732520" y="4434840"/>
            <a:ext cx="2926080" cy="1188720"/>
          </a:xfrm>
          <a:prstGeom prst="rect">
            <a:avLst/>
          </a:prstGeom>
          <a:noFill/>
          <a:ln/>
        </p:spPr>
        <p:txBody>
          <a:bodyPr wrap="square" lIns="0" tIns="0" rIns="0" bIns="0" rtlCol="0" anchor="ctr"/>
          <a:lstStyle/>
          <a:p>
            <a:pPr indent="0" marL="0">
              <a:lnSpc>
                <a:spcPts val="1800"/>
              </a:lnSpc>
              <a:buNone/>
            </a:pPr>
            <a:r>
              <a:rPr lang="en-US" sz="1300" i="1" dirty="0">
                <a:solidFill>
                  <a:srgbClr val="71685A"/>
                </a:solidFill>
                <a:latin typeface="Georgia" pitchFamily="34" charset="0"/>
                <a:ea typeface="Georgia" pitchFamily="34" charset="-122"/>
                <a:cs typeface="Georgia" pitchFamily="34" charset="-120"/>
              </a:rPr>
              <a:t>Every number in this deck was measured against the live network today — not quoted from docs.</a:t>
            </a:r>
            <a:endParaRPr lang="en-US" sz="1300" dirty="0"/>
          </a:p>
        </p:txBody>
      </p:sp>
      <p:sp>
        <p:nvSpPr>
          <p:cNvPr id="17" name="Shape 15"/>
          <p:cNvSpPr/>
          <p:nvPr/>
        </p:nvSpPr>
        <p:spPr>
          <a:xfrm>
            <a:off x="548640" y="5806440"/>
            <a:ext cx="11091672" cy="0"/>
          </a:xfrm>
          <a:prstGeom prst="line">
            <a:avLst/>
          </a:prstGeom>
          <a:noFill/>
          <a:ln w="12700">
            <a:solidFill>
              <a:srgbClr val="D8CDB8"/>
            </a:solidFill>
            <a:prstDash val="solid"/>
          </a:ln>
        </p:spPr>
      </p:sp>
      <p:sp>
        <p:nvSpPr>
          <p:cNvPr id="18" name="Text 16"/>
          <p:cNvSpPr txBox="1"/>
          <p:nvPr/>
        </p:nvSpPr>
        <p:spPr>
          <a:xfrm>
            <a:off x="548640" y="5943600"/>
            <a:ext cx="11064240" cy="411480"/>
          </a:xfrm>
          <a:prstGeom prst="rect">
            <a:avLst/>
          </a:prstGeom>
          <a:noFill/>
          <a:ln/>
        </p:spPr>
        <p:txBody>
          <a:bodyPr wrap="square" lIns="0" tIns="0" rIns="0" bIns="0" rtlCol="0" anchor="ctr"/>
          <a:lstStyle/>
          <a:p>
            <a:pPr indent="0" marL="0">
              <a:buNone/>
            </a:pPr>
            <a:r>
              <a:rPr lang="en-US" sz="1500" dirty="0">
                <a:solidFill>
                  <a:srgbClr val="1A1712"/>
                </a:solidFill>
                <a:latin typeface="Georgia" pitchFamily="34" charset="0"/>
                <a:ea typeface="Georgia" pitchFamily="34" charset="-122"/>
                <a:cs typeface="Georgia" pitchFamily="34" charset="-120"/>
              </a:rPr>
              <a:t>Viewers need no wallet either: the browser creates one, the faucet funds it, MetaMask is an optional fuel pump.</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1712"/>
        </a:solidFill>
      </p:bgPr>
    </p:bg>
    <p:spTree>
      <p:nvGrpSpPr>
        <p:cNvPr id="1" name=""/>
        <p:cNvGrpSpPr/>
        <p:nvPr/>
      </p:nvGrpSpPr>
      <p:grpSpPr>
        <a:xfrm>
          <a:off x="0" y="0"/>
          <a:ext cx="0" cy="0"/>
          <a:chOff x="0" y="0"/>
          <a:chExt cx="0" cy="0"/>
        </a:xfrm>
      </p:grpSpPr>
      <p:sp>
        <p:nvSpPr>
          <p:cNvPr id="2" name="Shape 0"/>
          <p:cNvSpPr/>
          <p:nvPr/>
        </p:nvSpPr>
        <p:spPr>
          <a:xfrm>
            <a:off x="566928" y="665683"/>
            <a:ext cx="241402" cy="241402"/>
          </a:xfrm>
          <a:prstGeom prst="rect">
            <a:avLst/>
          </a:prstGeom>
          <a:solidFill>
            <a:srgbClr val="BF3A1E"/>
          </a:solidFill>
          <a:ln/>
        </p:spPr>
      </p:sp>
      <p:sp>
        <p:nvSpPr>
          <p:cNvPr id="3" name="Text 1"/>
          <p:cNvSpPr txBox="1"/>
          <p:nvPr/>
        </p:nvSpPr>
        <p:spPr>
          <a:xfrm>
            <a:off x="918058" y="391363"/>
            <a:ext cx="3657600" cy="526694"/>
          </a:xfrm>
          <a:prstGeom prst="rect">
            <a:avLst/>
          </a:prstGeom>
          <a:noFill/>
          <a:ln/>
        </p:spPr>
        <p:txBody>
          <a:bodyPr wrap="square" lIns="0" tIns="0" rIns="0" bIns="0" rtlCol="0" anchor="ctr"/>
          <a:lstStyle/>
          <a:p>
            <a:pPr indent="0" marL="0">
              <a:buNone/>
            </a:pPr>
            <a:r>
              <a:rPr lang="en-US" sz="2400" dirty="0">
                <a:solidFill>
                  <a:srgbClr val="F4EFE6"/>
                </a:solidFill>
                <a:latin typeface="Alsina" pitchFamily="34" charset="0"/>
                <a:ea typeface="Alsina" pitchFamily="34" charset="-122"/>
                <a:cs typeface="Alsina" pitchFamily="34" charset="-120"/>
              </a:rPr>
              <a:t>MonadChat</a:t>
            </a:r>
            <a:endParaRPr lang="en-US" sz="2400" dirty="0"/>
          </a:p>
        </p:txBody>
      </p:sp>
      <p:sp>
        <p:nvSpPr>
          <p:cNvPr id="4" name="Text 2"/>
          <p:cNvSpPr txBox="1"/>
          <p:nvPr/>
        </p:nvSpPr>
        <p:spPr>
          <a:xfrm>
            <a:off x="548640" y="1554480"/>
            <a:ext cx="11064240" cy="548640"/>
          </a:xfrm>
          <a:prstGeom prst="rect">
            <a:avLst/>
          </a:prstGeom>
          <a:noFill/>
          <a:ln/>
        </p:spPr>
        <p:txBody>
          <a:bodyPr wrap="square" lIns="0" tIns="0" rIns="0" bIns="0" rtlCol="0" anchor="ctr"/>
          <a:lstStyle/>
          <a:p>
            <a:pPr algn="ctr" indent="0" marL="0">
              <a:buNone/>
            </a:pPr>
            <a:r>
              <a:rPr lang="en-US" sz="2000" i="1" dirty="0">
                <a:solidFill>
                  <a:srgbClr val="BFB6A4"/>
                </a:solidFill>
                <a:latin typeface="Georgia" pitchFamily="34" charset="0"/>
                <a:ea typeface="Georgia" pitchFamily="34" charset="-122"/>
                <a:cs typeface="Georgia" pitchFamily="34" charset="-120"/>
              </a:rPr>
              <a:t>The chain is fast enough to talk on.</a:t>
            </a:r>
            <a:endParaRPr lang="en-US" sz="2000" dirty="0"/>
          </a:p>
        </p:txBody>
      </p:sp>
      <p:sp>
        <p:nvSpPr>
          <p:cNvPr id="5" name="Text 3"/>
          <p:cNvSpPr txBox="1"/>
          <p:nvPr/>
        </p:nvSpPr>
        <p:spPr>
          <a:xfrm>
            <a:off x="548640" y="2286000"/>
            <a:ext cx="11064240" cy="1371600"/>
          </a:xfrm>
          <a:prstGeom prst="rect">
            <a:avLst/>
          </a:prstGeom>
          <a:noFill/>
          <a:ln/>
        </p:spPr>
        <p:txBody>
          <a:bodyPr wrap="square" lIns="0" tIns="0" rIns="0" bIns="0" rtlCol="0" anchor="ctr"/>
          <a:lstStyle/>
          <a:p>
            <a:pPr algn="ctr" indent="0" marL="0">
              <a:buNone/>
            </a:pPr>
            <a:r>
              <a:rPr lang="en-US" sz="7200" dirty="0">
                <a:solidFill>
                  <a:srgbClr val="F4EFE6"/>
                </a:solidFill>
                <a:latin typeface="Alsina" pitchFamily="34" charset="0"/>
                <a:ea typeface="Alsina" pitchFamily="34" charset="-122"/>
                <a:cs typeface="Alsina" pitchFamily="34" charset="-120"/>
              </a:rPr>
              <a:t>Open the live demo </a:t>
            </a:r>
            <a:pPr algn="ctr" indent="0" marL="0">
              <a:buNone/>
            </a:pPr>
            <a:r>
              <a:rPr lang="en-US" sz="7200" dirty="0">
                <a:solidFill>
                  <a:srgbClr val="BF3A1E"/>
                </a:solidFill>
                <a:latin typeface="Alsina" pitchFamily="34" charset="0"/>
                <a:ea typeface="Alsina" pitchFamily="34" charset="-122"/>
                <a:cs typeface="Alsina" pitchFamily="34" charset="-120"/>
              </a:rPr>
              <a:t>→</a:t>
            </a:r>
            <a:endParaRPr lang="en-US" sz="7200" dirty="0"/>
          </a:p>
        </p:txBody>
      </p:sp>
      <p:sp>
        <p:nvSpPr>
          <p:cNvPr id="6" name="Text 4"/>
          <p:cNvSpPr txBox="1"/>
          <p:nvPr/>
        </p:nvSpPr>
        <p:spPr>
          <a:xfrm>
            <a:off x="548640" y="3794760"/>
            <a:ext cx="11064240" cy="640080"/>
          </a:xfrm>
          <a:prstGeom prst="rect">
            <a:avLst/>
          </a:prstGeom>
          <a:noFill/>
          <a:ln/>
        </p:spPr>
        <p:txBody>
          <a:bodyPr wrap="square" lIns="0" tIns="0" rIns="0" bIns="0" rtlCol="0" anchor="ctr"/>
          <a:lstStyle/>
          <a:p>
            <a:pPr algn="ctr" indent="0" marL="0">
              <a:buNone/>
            </a:pPr>
            <a:r>
              <a:rPr lang="en-US" sz="2800" b="1" dirty="0">
                <a:solidFill>
                  <a:srgbClr val="F4EFE6"/>
                </a:solidFill>
                <a:latin typeface="Courier New" pitchFamily="34" charset="0"/>
                <a:ea typeface="Courier New" pitchFamily="34" charset="-122"/>
                <a:cs typeface="Courier New" pitchFamily="34" charset="-120"/>
              </a:rPr>
              <a:t>monadchat-rvfc1.vercel.app</a:t>
            </a:r>
            <a:endParaRPr lang="en-US" sz="2800" dirty="0"/>
          </a:p>
        </p:txBody>
      </p:sp>
      <p:sp>
        <p:nvSpPr>
          <p:cNvPr id="7" name="Text 5"/>
          <p:cNvSpPr txBox="1"/>
          <p:nvPr/>
        </p:nvSpPr>
        <p:spPr>
          <a:xfrm>
            <a:off x="548640" y="4526280"/>
            <a:ext cx="11064240" cy="457200"/>
          </a:xfrm>
          <a:prstGeom prst="rect">
            <a:avLst/>
          </a:prstGeom>
          <a:noFill/>
          <a:ln/>
        </p:spPr>
        <p:txBody>
          <a:bodyPr wrap="square" lIns="0" tIns="0" rIns="0" bIns="0" rtlCol="0" anchor="ctr"/>
          <a:lstStyle/>
          <a:p>
            <a:pPr algn="ctr" indent="0" marL="0">
              <a:buNone/>
            </a:pPr>
            <a:r>
              <a:rPr lang="en-US" sz="1700" i="1" dirty="0">
                <a:solidFill>
                  <a:srgbClr val="BFB6A4"/>
                </a:solidFill>
                <a:latin typeface="Georgia" pitchFamily="34" charset="0"/>
                <a:ea typeface="Georgia" pitchFamily="34" charset="-122"/>
                <a:cs typeface="Georgia" pitchFamily="34" charset="-120"/>
              </a:rPr>
              <a:t>write a word from your phone — watch it land on Monad in half a second</a:t>
            </a:r>
            <a:endParaRPr lang="en-US" sz="1700" dirty="0"/>
          </a:p>
        </p:txBody>
      </p:sp>
      <p:sp>
        <p:nvSpPr>
          <p:cNvPr id="8" name="Shape 6"/>
          <p:cNvSpPr/>
          <p:nvPr/>
        </p:nvSpPr>
        <p:spPr>
          <a:xfrm>
            <a:off x="548640" y="5806440"/>
            <a:ext cx="11091672" cy="0"/>
          </a:xfrm>
          <a:prstGeom prst="line">
            <a:avLst/>
          </a:prstGeom>
          <a:noFill/>
          <a:ln w="12700">
            <a:solidFill>
              <a:srgbClr val="4A443A"/>
            </a:solidFill>
            <a:prstDash val="solid"/>
          </a:ln>
        </p:spPr>
      </p:sp>
      <p:sp>
        <p:nvSpPr>
          <p:cNvPr id="9" name="Text 7"/>
          <p:cNvSpPr txBox="1"/>
          <p:nvPr/>
        </p:nvSpPr>
        <p:spPr>
          <a:xfrm>
            <a:off x="548640" y="5943600"/>
            <a:ext cx="5943600" cy="365760"/>
          </a:xfrm>
          <a:prstGeom prst="rect">
            <a:avLst/>
          </a:prstGeom>
          <a:noFill/>
          <a:ln/>
        </p:spPr>
        <p:txBody>
          <a:bodyPr wrap="square" lIns="0" tIns="0" rIns="0" bIns="0" rtlCol="0" anchor="ctr"/>
          <a:lstStyle/>
          <a:p>
            <a:pPr indent="0" marL="0">
              <a:buNone/>
            </a:pPr>
            <a:r>
              <a:rPr lang="en-US" sz="1200" dirty="0">
                <a:solidFill>
                  <a:srgbClr val="BFB6A4"/>
                </a:solidFill>
                <a:latin typeface="Courier New" pitchFamily="34" charset="0"/>
                <a:ea typeface="Courier New" pitchFamily="34" charset="-122"/>
                <a:cs typeface="Courier New" pitchFamily="34" charset="-120"/>
              </a:rPr>
              <a:t>contract 0xba3c36b0…4be8 — verified</a:t>
            </a:r>
            <a:endParaRPr lang="en-US" sz="1200" dirty="0"/>
          </a:p>
        </p:txBody>
      </p:sp>
      <p:sp>
        <p:nvSpPr>
          <p:cNvPr id="10" name="Text 8"/>
          <p:cNvSpPr txBox="1"/>
          <p:nvPr/>
        </p:nvSpPr>
        <p:spPr>
          <a:xfrm>
            <a:off x="6583680" y="5943600"/>
            <a:ext cx="5029200" cy="365760"/>
          </a:xfrm>
          <a:prstGeom prst="rect">
            <a:avLst/>
          </a:prstGeom>
          <a:noFill/>
          <a:ln/>
        </p:spPr>
        <p:txBody>
          <a:bodyPr wrap="square" lIns="0" tIns="0" rIns="0" bIns="0" rtlCol="0" anchor="ctr"/>
          <a:lstStyle/>
          <a:p>
            <a:pPr algn="r" indent="0" marL="0">
              <a:buNone/>
            </a:pPr>
            <a:r>
              <a:rPr lang="en-US" sz="1200" spc="200" kern="0" dirty="0">
                <a:solidFill>
                  <a:srgbClr val="BFB6A4"/>
                </a:solidFill>
                <a:latin typeface="Courier New" pitchFamily="34" charset="0"/>
                <a:ea typeface="Courier New" pitchFamily="34" charset="-122"/>
                <a:cs typeface="Courier New" pitchFamily="34" charset="-120"/>
              </a:rPr>
              <a:t>MONAD BLITZ · AMSTERDAM · 2026</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2026-08-29T14:06:51Z</dcterms:created>
  <dcterms:modified xsi:type="dcterms:W3CDTF">2026-08-29T14:06:51Z</dcterms:modified>
</cp:coreProperties>
</file>