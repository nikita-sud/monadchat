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MonadChat: a stream chat where every message is a Monad transaction. You pay to speak, the streamer is paid instantly.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chat drowns streamers in spam and pays them nothing. Superchat proved people pay for attention — but platforms take 30-50% and pay out in weeks. We remove the middleman: the chat itself is the payment 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chat is literally an account book: price per word, dotted leader, amount on the right. Streamer sets the price, gets 100% instantly by push transfer. Text lives in contract events — we run no backend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numbers: half a second to 1.3s from send to chain, measured today and shown on every message. 400ms blocks make chat-speed transactions possible at all. And anti-spam is enforced by Monad consensus itself — one message per 1.2 seconds per wallet, no bot can bypass it. Everything here was measured against the live network, not quoted from 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Viewers need nothing: the browser creates the wallet, the faucet funds it, you type in ten seconds. MetaMask is optional — a fuel pump: one confirmation tops up the session, and you can take the change back anytime. Streamers open a room with one transaction and get an OBS overlay. All of it on a 67-line verified contract with no backend at all. Try it from your phone right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Scan the link, write a word, watch it land on Monad in half a second. Thank you!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73913"/>
            <a:ext cx="261518" cy="261518"/>
          </a:xfrm>
          <a:prstGeom prst="rect">
            <a:avLst/>
          </a:prstGeom>
          <a:solidFill>
            <a:srgbClr val="BF3A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38174" y="376733"/>
            <a:ext cx="3657600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712"/>
                </a:solidFill>
                <a:latin typeface="Alsina" pitchFamily="34" charset="0"/>
                <a:ea typeface="Alsina" pitchFamily="34" charset="-122"/>
                <a:cs typeface="Alsina" pitchFamily="34" charset="-120"/>
              </a:rPr>
              <a:t>MonadChat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11155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400"/>
              </a:lnSpc>
              <a:buNone/>
            </a:pPr>
            <a:r>
              <a:rPr lang="en-US" sz="8800" dirty="0">
                <a:solidFill>
                  <a:srgbClr val="1A1712"/>
                </a:solidFill>
                <a:latin typeface="Alsina" pitchFamily="34" charset="0"/>
                <a:ea typeface="Alsina" pitchFamily="34" charset="-122"/>
                <a:cs typeface="Alsina" pitchFamily="34" charset="-120"/>
              </a:rPr>
              <a:t>Chat where
</a:t>
            </a:r>
            <a:pPr indent="0" marL="0">
              <a:lnSpc>
                <a:spcPts val="8400"/>
              </a:lnSpc>
              <a:buNone/>
            </a:pPr>
            <a:r>
              <a:rPr lang="en-US" sz="8800" dirty="0">
                <a:solidFill>
                  <a:srgbClr val="1A1712"/>
                </a:solidFill>
                <a:latin typeface="Alsina" pitchFamily="34" charset="0"/>
                <a:ea typeface="Alsina" pitchFamily="34" charset="-122"/>
                <a:cs typeface="Alsina" pitchFamily="34" charset="-120"/>
              </a:rPr>
              <a:t>words cost </a:t>
            </a:r>
            <a:pPr indent="0" marL="0">
              <a:lnSpc>
                <a:spcPts val="8400"/>
              </a:lnSpc>
              <a:buNone/>
            </a:pPr>
            <a:r>
              <a:rPr lang="en-US" sz="8800" dirty="0">
                <a:solidFill>
                  <a:srgbClr val="BF3A1E"/>
                </a:solidFill>
                <a:latin typeface="Alsina" pitchFamily="34" charset="0"/>
                <a:ea typeface="Alsina" pitchFamily="34" charset="-122"/>
                <a:cs typeface="Alsina" pitchFamily="34" charset="-120"/>
              </a:rPr>
              <a:t>money</a:t>
            </a:r>
            <a:endParaRPr lang="en-US" sz="8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434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message in a stream chat is a real Monad transaction.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speak you pay — and the streamer is paid the same second.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5806440"/>
            <a:ext cx="11091672" cy="0"/>
          </a:xfrm>
          <a:prstGeom prst="line">
            <a:avLst/>
          </a:prstGeom>
          <a:noFill/>
          <a:ln w="17780">
            <a:solidFill>
              <a:srgbClr val="1A171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716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MONAD BLITZ · AMSTERDAM · 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5943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F3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monadchat-rvfc1.vercel.app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A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CHAT IS WORTHLESS CHAT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097780" y="630936"/>
            <a:ext cx="5490972" cy="0"/>
          </a:xfrm>
          <a:prstGeom prst="line">
            <a:avLst/>
          </a:prstGeom>
          <a:noFill/>
          <a:ln w="12700">
            <a:solidFill>
              <a:srgbClr val="71685A"/>
            </a:solidFill>
            <a:prstDash val="sysDot"/>
          </a:ln>
        </p:spPr>
      </p:sp>
      <p:sp>
        <p:nvSpPr>
          <p:cNvPr id="4" name="Text 2"/>
          <p:cNvSpPr txBox="1"/>
          <p:nvPr/>
        </p:nvSpPr>
        <p:spPr>
          <a:xfrm>
            <a:off x="11137392" y="3840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716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spam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749040" y="1691640"/>
            <a:ext cx="1280160" cy="0"/>
          </a:xfrm>
          <a:prstGeom prst="line">
            <a:avLst/>
          </a:prstGeom>
          <a:noFill/>
          <a:ln w="12700">
            <a:solidFill>
              <a:srgbClr val="71685A"/>
            </a:solidFill>
            <a:prstDash val="sysDot"/>
          </a:ln>
        </p:spPr>
      </p:sp>
      <p:sp>
        <p:nvSpPr>
          <p:cNvPr id="7" name="Text 5"/>
          <p:cNvSpPr txBox="1"/>
          <p:nvPr/>
        </p:nvSpPr>
        <p:spPr>
          <a:xfrm>
            <a:off x="5074920" y="14173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16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842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749040" y="2258568"/>
            <a:ext cx="1280160" cy="0"/>
          </a:xfrm>
          <a:prstGeom prst="line">
            <a:avLst/>
          </a:prstGeom>
          <a:noFill/>
          <a:ln w="12700">
            <a:solidFill>
              <a:srgbClr val="71685A"/>
            </a:solidFill>
            <a:prstDash val="sysDot"/>
          </a:ln>
        </p:spPr>
      </p:sp>
      <p:sp>
        <p:nvSpPr>
          <p:cNvPr id="10" name="Text 8"/>
          <p:cNvSpPr txBox="1"/>
          <p:nvPr/>
        </p:nvSpPr>
        <p:spPr>
          <a:xfrm>
            <a:off x="5074920" y="19842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16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55117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wall of noise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3749040" y="2825496"/>
            <a:ext cx="1280160" cy="0"/>
          </a:xfrm>
          <a:prstGeom prst="line">
            <a:avLst/>
          </a:prstGeom>
          <a:noFill/>
          <a:ln w="12700">
            <a:solidFill>
              <a:srgbClr val="71685A"/>
            </a:solidFill>
            <a:prstDash val="sysDot"/>
          </a:ln>
        </p:spPr>
      </p:sp>
      <p:sp>
        <p:nvSpPr>
          <p:cNvPr id="13" name="Text 11"/>
          <p:cNvSpPr txBox="1"/>
          <p:nvPr/>
        </p:nvSpPr>
        <p:spPr>
          <a:xfrm>
            <a:off x="5074920" y="255117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16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11810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streamer's cut of it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3749040" y="3392424"/>
            <a:ext cx="1280160" cy="0"/>
          </a:xfrm>
          <a:prstGeom prst="line">
            <a:avLst/>
          </a:prstGeom>
          <a:noFill/>
          <a:ln w="12700">
            <a:solidFill>
              <a:srgbClr val="71685A"/>
            </a:solidFill>
            <a:prstDash val="sysDot"/>
          </a:ln>
        </p:spPr>
      </p:sp>
      <p:sp>
        <p:nvSpPr>
          <p:cNvPr id="16" name="Text 14"/>
          <p:cNvSpPr txBox="1"/>
          <p:nvPr/>
        </p:nvSpPr>
        <p:spPr>
          <a:xfrm>
            <a:off x="5074920" y="311810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16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9776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716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words cost nothing, they are worth nothing.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14173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Superchat proved attention has a price.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2011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a platform sits in the middle of every paid word: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60604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dirty="0">
                <a:solidFill>
                  <a:srgbClr val="BF3A1E"/>
                </a:solidFill>
                <a:latin typeface="Alsina" pitchFamily="34" charset="0"/>
                <a:ea typeface="Alsina" pitchFamily="34" charset="-122"/>
                <a:cs typeface="Alsina" pitchFamily="34" charset="-120"/>
              </a:rPr>
              <a:t>30–50%</a:t>
            </a:r>
            <a:endParaRPr lang="en-US" sz="6800" dirty="0"/>
          </a:p>
        </p:txBody>
      </p:sp>
      <p:sp>
        <p:nvSpPr>
          <p:cNvPr id="21" name="Text 19"/>
          <p:cNvSpPr txBox="1"/>
          <p:nvPr/>
        </p:nvSpPr>
        <p:spPr>
          <a:xfrm>
            <a:off x="9784080" y="31272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6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 take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977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</a:t>
            </a:r>
            <a:pPr indent="0" marL="0">
              <a:buNone/>
            </a:pPr>
            <a:r>
              <a:rPr lang="en-US" sz="1600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payout  ·  </a:t>
            </a:r>
            <a:pPr indent="0" marL="0">
              <a:buNone/>
            </a:pPr>
            <a:r>
              <a:rPr lang="en-US" sz="1600" b="1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their</a:t>
            </a:r>
            <a:pPr indent="0" marL="0">
              <a:buNone/>
            </a:pPr>
            <a:r>
              <a:rPr lang="en-US" sz="1600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rules  ·  </a:t>
            </a:r>
            <a:pPr indent="0" marL="0">
              <a:buNone/>
            </a:pPr>
            <a:r>
              <a:rPr lang="en-US" sz="1600" b="1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their</a:t>
            </a:r>
            <a:pPr indent="0" marL="0">
              <a:buNone/>
            </a:pPr>
            <a:r>
              <a:rPr lang="en-US" sz="1600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audience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5989320"/>
            <a:ext cx="11091672" cy="0"/>
          </a:xfrm>
          <a:prstGeom prst="line">
            <a:avLst/>
          </a:prstGeom>
          <a:noFill/>
          <a:ln w="12700">
            <a:solidFill>
              <a:srgbClr val="D8CDB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6126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MonadChat removes the middle: the chat itself is the payment rail.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A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MESSAGE IS A LEDGER ENTRY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737860" y="630936"/>
            <a:ext cx="4850892" cy="0"/>
          </a:xfrm>
          <a:prstGeom prst="line">
            <a:avLst/>
          </a:prstGeom>
          <a:noFill/>
          <a:ln w="12700">
            <a:solidFill>
              <a:srgbClr val="71685A"/>
            </a:solidFill>
            <a:prstDash val="sysDot"/>
          </a:ln>
        </p:spPr>
      </p:sp>
      <p:sp>
        <p:nvSpPr>
          <p:cNvPr id="4" name="Text 2"/>
          <p:cNvSpPr txBox="1"/>
          <p:nvPr/>
        </p:nvSpPr>
        <p:spPr>
          <a:xfrm>
            <a:off x="11137392" y="3840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716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6492240" cy="4251960"/>
          </a:xfrm>
          <a:prstGeom prst="rect">
            <a:avLst/>
          </a:prstGeom>
          <a:solidFill>
            <a:srgbClr val="ECE4D3"/>
          </a:solidFill>
          <a:ln w="15240">
            <a:solidFill>
              <a:srgbClr val="1A171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554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91640" y="1664208"/>
            <a:ext cx="91440" cy="91440"/>
          </a:xfrm>
          <a:prstGeom prst="ellipse">
            <a:avLst/>
          </a:prstGeom>
          <a:solidFill>
            <a:srgbClr val="1C6B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20640" y="1554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6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entries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6492240" cy="0"/>
          </a:xfrm>
          <a:prstGeom prst="line">
            <a:avLst/>
          </a:prstGeom>
          <a:noFill/>
          <a:ln w="12700">
            <a:solidFill>
              <a:srgbClr val="1A171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2860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6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15:18  </a:t>
            </a:r>
            <a:pPr indent="0" marL="0">
              <a:buNone/>
            </a:pPr>
            <a:r>
              <a:rPr lang="en-US" sz="1600" b="1" dirty="0">
                <a:solidFill>
                  <a:srgbClr val="BF3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mona</a:t>
            </a:r>
            <a:pPr indent="0" marL="0">
              <a:buNone/>
            </a:pPr>
            <a:r>
              <a:rPr lang="en-US" sz="1600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gm Amsterdam — this line cost money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2852928"/>
            <a:ext cx="4389120" cy="0"/>
          </a:xfrm>
          <a:prstGeom prst="line">
            <a:avLst/>
          </a:prstGeom>
          <a:noFill/>
          <a:ln w="12700">
            <a:solidFill>
              <a:srgbClr val="71685A"/>
            </a:solidFill>
            <a:prstDash val="sysDot"/>
          </a:ln>
        </p:spPr>
      </p:sp>
      <p:sp>
        <p:nvSpPr>
          <p:cNvPr id="12" name="Text 10"/>
          <p:cNvSpPr txBox="1"/>
          <p:nvPr/>
        </p:nvSpPr>
        <p:spPr>
          <a:xfrm>
            <a:off x="489204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2461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6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15:31  </a:t>
            </a:r>
            <a:pPr indent="0" marL="0">
              <a:buNone/>
            </a:pPr>
            <a:r>
              <a:rPr lang="en-US" sz="1600" b="1" dirty="0">
                <a:solidFill>
                  <a:srgbClr val="1C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nad_holder</a:t>
            </a:r>
            <a:pPr indent="0" marL="0">
              <a:buNone/>
            </a:pPr>
            <a:r>
              <a:rPr lang="en-US" sz="1600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every message here is a transaction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3813048"/>
            <a:ext cx="4389120" cy="0"/>
          </a:xfrm>
          <a:prstGeom prst="line">
            <a:avLst/>
          </a:prstGeom>
          <a:noFill/>
          <a:ln w="12700">
            <a:solidFill>
              <a:srgbClr val="71685A"/>
            </a:solidFill>
            <a:prstDash val="sysDot"/>
          </a:ln>
        </p:spPr>
      </p:sp>
      <p:sp>
        <p:nvSpPr>
          <p:cNvPr id="15" name="Text 13"/>
          <p:cNvSpPr txBox="1"/>
          <p:nvPr/>
        </p:nvSpPr>
        <p:spPr>
          <a:xfrm>
            <a:off x="489204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2062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6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15:33  </a:t>
            </a:r>
            <a:pPr indent="0" marL="0">
              <a:buNone/>
            </a:pPr>
            <a:r>
              <a:rPr lang="en-US" sz="1600" b="1" dirty="0">
                <a:solidFill>
                  <a:srgbClr val="1D5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blitz_fan</a:t>
            </a:r>
            <a:pPr indent="0" marL="0">
              <a:buNone/>
            </a:pPr>
            <a:r>
              <a:rPr lang="en-US" sz="1600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watch the badge → half a second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4773168"/>
            <a:ext cx="4389120" cy="0"/>
          </a:xfrm>
          <a:prstGeom prst="line">
            <a:avLst/>
          </a:prstGeom>
          <a:noFill/>
          <a:ln w="12700">
            <a:solidFill>
              <a:srgbClr val="71685A"/>
            </a:solidFill>
            <a:prstDash val="sysDot"/>
          </a:ln>
        </p:spPr>
      </p:sp>
      <p:sp>
        <p:nvSpPr>
          <p:cNvPr id="18" name="Text 16"/>
          <p:cNvSpPr txBox="1"/>
          <p:nvPr/>
        </p:nvSpPr>
        <p:spPr>
          <a:xfrm>
            <a:off x="4892040" y="4572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 · 0.55s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1371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BF3A1E"/>
                </a:solidFill>
                <a:latin typeface="Alsina" pitchFamily="34" charset="0"/>
                <a:ea typeface="Alsina" pitchFamily="34" charset="-122"/>
                <a:cs typeface="Alsina" pitchFamily="34" charset="-120"/>
              </a:rPr>
              <a:t>1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13898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streamer sets the price of a word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1883664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16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 = one transaction. Works on top of Twitch, YouTube or Kick — we are the chat layer, not the platform.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28529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BF3A1E"/>
                </a:solidFill>
                <a:latin typeface="Alsina" pitchFamily="34" charset="0"/>
                <a:ea typeface="Alsina" pitchFamily="34" charset="-122"/>
                <a:cs typeface="Alsina" pitchFamily="34" charset="-120"/>
              </a:rPr>
              <a:t>2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287121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goes to the streamer, instantly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16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Push transfer inside the message transaction. No withdrawal, no custody, no invoice.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433425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BF3A1E"/>
                </a:solidFill>
                <a:latin typeface="Alsina" pitchFamily="34" charset="0"/>
                <a:ea typeface="Alsina" pitchFamily="34" charset="-122"/>
                <a:cs typeface="Alsina" pitchFamily="34" charset="-120"/>
              </a:rPr>
              <a:t>3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435254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text lives in events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48463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16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backend, no database, no indexer. History = eth_getLogs, live feed = WebSocket.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POSSIBLE ON MONAD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4297680" y="630936"/>
            <a:ext cx="6291072" cy="0"/>
          </a:xfrm>
          <a:prstGeom prst="line">
            <a:avLst/>
          </a:prstGeom>
          <a:noFill/>
          <a:ln w="12700">
            <a:solidFill>
              <a:srgbClr val="BFB6A4"/>
            </a:solidFill>
            <a:prstDash val="sysDot"/>
          </a:ln>
        </p:spPr>
      </p:sp>
      <p:sp>
        <p:nvSpPr>
          <p:cNvPr id="4" name="Text 2"/>
          <p:cNvSpPr txBox="1"/>
          <p:nvPr/>
        </p:nvSpPr>
        <p:spPr>
          <a:xfrm>
            <a:off x="11137392" y="3840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BFB6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4EFE6"/>
                </a:solidFill>
                <a:latin typeface="Alsina" pitchFamily="34" charset="0"/>
                <a:ea typeface="Alsina" pitchFamily="34" charset="-122"/>
                <a:cs typeface="Alsina" pitchFamily="34" charset="-120"/>
              </a:rPr>
              <a:t>0.5–1.3s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3383280" cy="0"/>
          </a:xfrm>
          <a:prstGeom prst="line">
            <a:avLst/>
          </a:prstGeom>
          <a:noFill/>
          <a:ln w="12700">
            <a:solidFill>
              <a:srgbClr val="BFB6A4"/>
            </a:solidFill>
            <a:prstDash val="sysDot"/>
          </a:ln>
        </p:spPr>
      </p:sp>
      <p:sp>
        <p:nvSpPr>
          <p:cNvPr id="7" name="Text 5"/>
          <p:cNvSpPr txBox="1"/>
          <p:nvPr/>
        </p:nvSpPr>
        <p:spPr>
          <a:xfrm>
            <a:off x="548640" y="32461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5DF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hitting send to confirmation on chain — measured, and shown live on every message badge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462272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4EFE6"/>
                </a:solidFill>
                <a:latin typeface="Alsina" pitchFamily="34" charset="0"/>
                <a:ea typeface="Alsina" pitchFamily="34" charset="-122"/>
                <a:cs typeface="Alsina" pitchFamily="34" charset="-120"/>
              </a:rPr>
              <a:t>400ms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4462272" y="3063240"/>
            <a:ext cx="3383280" cy="0"/>
          </a:xfrm>
          <a:prstGeom prst="line">
            <a:avLst/>
          </a:prstGeom>
          <a:noFill/>
          <a:ln w="12700">
            <a:solidFill>
              <a:srgbClr val="BFB6A4"/>
            </a:solidFill>
            <a:prstDash val="sysDot"/>
          </a:ln>
        </p:spPr>
      </p:sp>
      <p:sp>
        <p:nvSpPr>
          <p:cNvPr id="10" name="Text 8"/>
          <p:cNvSpPr txBox="1"/>
          <p:nvPr/>
        </p:nvSpPr>
        <p:spPr>
          <a:xfrm>
            <a:off x="4462272" y="32461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5DF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Monad block time. On Ethereum this product simply does not exist — a reply cannot wait 12 seconds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375904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4EFE6"/>
                </a:solidFill>
                <a:latin typeface="Alsina" pitchFamily="34" charset="0"/>
                <a:ea typeface="Alsina" pitchFamily="34" charset="-122"/>
                <a:cs typeface="Alsina" pitchFamily="34" charset="-120"/>
              </a:rPr>
              <a:t>1 / 1.2s</a:t>
            </a:r>
            <a:endParaRPr lang="en-US" sz="6000" dirty="0"/>
          </a:p>
        </p:txBody>
      </p:sp>
      <p:sp>
        <p:nvSpPr>
          <p:cNvPr id="12" name="Shape 10"/>
          <p:cNvSpPr/>
          <p:nvPr/>
        </p:nvSpPr>
        <p:spPr>
          <a:xfrm>
            <a:off x="8375904" y="3063240"/>
            <a:ext cx="3383280" cy="0"/>
          </a:xfrm>
          <a:prstGeom prst="line">
            <a:avLst/>
          </a:prstGeom>
          <a:noFill/>
          <a:ln w="12700">
            <a:solidFill>
              <a:srgbClr val="BFB6A4"/>
            </a:solidFill>
            <a:prstDash val="sysDot"/>
          </a:ln>
        </p:spPr>
      </p:sp>
      <p:sp>
        <p:nvSpPr>
          <p:cNvPr id="13" name="Text 11"/>
          <p:cNvSpPr txBox="1"/>
          <p:nvPr/>
        </p:nvSpPr>
        <p:spPr>
          <a:xfrm>
            <a:off x="8375904" y="32461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5DF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messages per wallet, enforced by Monad consensus (reserve balance) — anti-spam no bot can bypass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11091672" cy="0"/>
          </a:xfrm>
          <a:prstGeom prst="line">
            <a:avLst/>
          </a:prstGeom>
          <a:noFill/>
          <a:ln w="12700">
            <a:solidFill>
              <a:srgbClr val="4A44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440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5DF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against the real network, not the docs: 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FB6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 is charged on gas_limit here — we ship 7.5% estimates, not ×2 padding. Public RPC throttled on hackathon day — the app fails over across four endpoints.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A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FRICTION, BOTH SIDES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4777740" y="630936"/>
            <a:ext cx="5811012" cy="0"/>
          </a:xfrm>
          <a:prstGeom prst="line">
            <a:avLst/>
          </a:prstGeom>
          <a:noFill/>
          <a:ln w="12700">
            <a:solidFill>
              <a:srgbClr val="71685A"/>
            </a:solidFill>
            <a:prstDash val="sysDot"/>
          </a:ln>
        </p:spPr>
      </p:sp>
      <p:sp>
        <p:nvSpPr>
          <p:cNvPr id="4" name="Text 2"/>
          <p:cNvSpPr txBox="1"/>
          <p:nvPr/>
        </p:nvSpPr>
        <p:spPr>
          <a:xfrm>
            <a:off x="11137392" y="3840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716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3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10512"/>
            <a:ext cx="3429000" cy="0"/>
          </a:xfrm>
          <a:prstGeom prst="line">
            <a:avLst/>
          </a:prstGeom>
          <a:noFill/>
          <a:ln w="15240">
            <a:solidFill>
              <a:srgbClr val="1A171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0574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wallet created by the browser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4144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6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extension, no seed phrase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0175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faucet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015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6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click, +1 MON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9776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typing in ten seconds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616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6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the link → write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62272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3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METAMASK = FUEL PUMP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62272" y="1810512"/>
            <a:ext cx="3429000" cy="0"/>
          </a:xfrm>
          <a:prstGeom prst="line">
            <a:avLst/>
          </a:prstGeom>
          <a:noFill/>
          <a:ln w="15240">
            <a:solidFill>
              <a:srgbClr val="1A171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62272" y="20574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up 0.5 MON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4462272" y="244144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6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single confirmation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462272" y="30175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popup-free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4462272" y="34015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6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wallet signs for itself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462272" y="39776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 return balance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4462272" y="43616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6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comes back anytime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375904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3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375904" y="1810512"/>
            <a:ext cx="3429000" cy="0"/>
          </a:xfrm>
          <a:prstGeom prst="line">
            <a:avLst/>
          </a:prstGeom>
          <a:noFill/>
          <a:ln w="15240">
            <a:solidFill>
              <a:srgbClr val="1A171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75904" y="20574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 = one transaction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8375904" y="244144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6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+ where you stream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375904" y="30175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 overlay included</a:t>
            </a:r>
            <a:endParaRPr lang="en-US" sz="1650" dirty="0"/>
          </a:p>
        </p:txBody>
      </p:sp>
      <p:sp>
        <p:nvSpPr>
          <p:cNvPr id="26" name="Text 24"/>
          <p:cNvSpPr txBox="1"/>
          <p:nvPr/>
        </p:nvSpPr>
        <p:spPr>
          <a:xfrm>
            <a:off x="8375904" y="34015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6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paid words land on the video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375904" y="39776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MetaMask payouts</a:t>
            </a:r>
            <a:endParaRPr lang="en-US" sz="1650" dirty="0"/>
          </a:p>
        </p:txBody>
      </p:sp>
      <p:sp>
        <p:nvSpPr>
          <p:cNvPr id="28" name="Text 26"/>
          <p:cNvSpPr txBox="1"/>
          <p:nvPr/>
        </p:nvSpPr>
        <p:spPr>
          <a:xfrm>
            <a:off x="8375904" y="43616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6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earnings straight to your wallet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349240"/>
            <a:ext cx="11091672" cy="0"/>
          </a:xfrm>
          <a:prstGeom prst="line">
            <a:avLst/>
          </a:prstGeom>
          <a:noFill/>
          <a:ln w="12700">
            <a:solidFill>
              <a:srgbClr val="D8CDB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532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67-line contract, verified on Monadscan</a:t>
            </a:r>
            <a:pPr indent="0" marL="0">
              <a:buNone/>
            </a:pPr>
            <a:r>
              <a:rPr lang="en-US" sz="1500" dirty="0">
                <a:solidFill>
                  <a:srgbClr val="716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·   no backend · no indexer · no database — events + WebSocket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3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it from your phone right now — monadchat-rvfc1.vercel.app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65683"/>
            <a:ext cx="241402" cy="241402"/>
          </a:xfrm>
          <a:prstGeom prst="rect">
            <a:avLst/>
          </a:prstGeom>
          <a:solidFill>
            <a:srgbClr val="BF3A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8058" y="391363"/>
            <a:ext cx="365760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EFE6"/>
                </a:solidFill>
                <a:latin typeface="Alsina" pitchFamily="34" charset="0"/>
                <a:ea typeface="Alsina" pitchFamily="34" charset="-122"/>
                <a:cs typeface="Alsina" pitchFamily="34" charset="-120"/>
              </a:rPr>
              <a:t>MonadChat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dirty="0">
                <a:solidFill>
                  <a:srgbClr val="F4EFE6"/>
                </a:solidFill>
                <a:latin typeface="Alsina" pitchFamily="34" charset="0"/>
                <a:ea typeface="Alsina" pitchFamily="34" charset="-122"/>
                <a:cs typeface="Alsina" pitchFamily="34" charset="-120"/>
              </a:rPr>
              <a:t>Open the live demo </a:t>
            </a:r>
            <a:pPr algn="ctr" indent="0" marL="0">
              <a:buNone/>
            </a:pPr>
            <a:r>
              <a:rPr lang="en-US" sz="7600" dirty="0">
                <a:solidFill>
                  <a:srgbClr val="BF3A1E"/>
                </a:solidFill>
                <a:latin typeface="Alsina" pitchFamily="34" charset="0"/>
                <a:ea typeface="Alsina" pitchFamily="34" charset="-122"/>
                <a:cs typeface="Alsina" pitchFamily="34" charset="-120"/>
              </a:rPr>
              <a:t>→</a:t>
            </a:r>
            <a:endParaRPr lang="en-US" sz="7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03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monadchat-rvfc1.vercel.app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BFB6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room · a live stream · every message lands on Monad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5806440"/>
            <a:ext cx="11091672" cy="0"/>
          </a:xfrm>
          <a:prstGeom prst="line">
            <a:avLst/>
          </a:prstGeom>
          <a:noFill/>
          <a:ln w="12700">
            <a:solidFill>
              <a:srgbClr val="4A44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5943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6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 0xba3c36b0…4be8 — verified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5943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BFB6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MONAD BLITZ · AMSTERDAM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2026-08-29T13:56:02Z</dcterms:created>
  <dcterms:modified xsi:type="dcterms:W3CDTF">2026-08-29T13:56:02Z</dcterms:modified>
</cp:coreProperties>
</file>